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36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晴天训练</c:v>
          </c:tx>
          <c:spPr>
            <a:ln w="23813">
              <a:solidFill>
                <a:srgbClr val="205EB5"/>
              </a:solidFill>
            </a:ln>
          </c:spPr>
          <c:marker>
            <c:symbol val="none"/>
          </c:marker>
          <c:cat>
            <c:numRef>
              <c:f>'Chart Data'!$A$2:$A$51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'Chart Data'!$B$2:$B$51</c:f>
              <c:numCache>
                <c:formatCode>0.0</c:formatCode>
                <c:ptCount val="50"/>
                <c:pt idx="0">
                  <c:v>1.71055</c:v>
                </c:pt>
                <c:pt idx="1">
                  <c:v>1.4584600000000001</c:v>
                </c:pt>
                <c:pt idx="2">
                  <c:v>1.359</c:v>
                </c:pt>
                <c:pt idx="3">
                  <c:v>1.30626</c:v>
                </c:pt>
                <c:pt idx="4">
                  <c:v>1.26939</c:v>
                </c:pt>
                <c:pt idx="5">
                  <c:v>1.24013</c:v>
                </c:pt>
                <c:pt idx="6">
                  <c:v>1.21191</c:v>
                </c:pt>
                <c:pt idx="7">
                  <c:v>1.17069</c:v>
                </c:pt>
                <c:pt idx="8">
                  <c:v>1.1451899999999999</c:v>
                </c:pt>
                <c:pt idx="9">
                  <c:v>1.11476</c:v>
                </c:pt>
                <c:pt idx="10">
                  <c:v>1.0887500000000001</c:v>
                </c:pt>
                <c:pt idx="11">
                  <c:v>1.0288999999999999</c:v>
                </c:pt>
                <c:pt idx="12">
                  <c:v>1.0337499999999999</c:v>
                </c:pt>
                <c:pt idx="13">
                  <c:v>1.0356099999999999</c:v>
                </c:pt>
                <c:pt idx="14">
                  <c:v>1.00454</c:v>
                </c:pt>
                <c:pt idx="15">
                  <c:v>0.98721000000000003</c:v>
                </c:pt>
                <c:pt idx="16">
                  <c:v>0.98641999999999996</c:v>
                </c:pt>
                <c:pt idx="17">
                  <c:v>0.96926000000000001</c:v>
                </c:pt>
                <c:pt idx="18">
                  <c:v>0.95818999999999999</c:v>
                </c:pt>
                <c:pt idx="19">
                  <c:v>0.94872000000000001</c:v>
                </c:pt>
                <c:pt idx="20">
                  <c:v>0.94555</c:v>
                </c:pt>
                <c:pt idx="21">
                  <c:v>0.93694</c:v>
                </c:pt>
                <c:pt idx="22">
                  <c:v>0.92564999999999997</c:v>
                </c:pt>
                <c:pt idx="23">
                  <c:v>0.91588000000000003</c:v>
                </c:pt>
                <c:pt idx="24">
                  <c:v>0.89370000000000005</c:v>
                </c:pt>
                <c:pt idx="25">
                  <c:v>0.89812999999999998</c:v>
                </c:pt>
                <c:pt idx="26">
                  <c:v>0.89990999999999999</c:v>
                </c:pt>
                <c:pt idx="27">
                  <c:v>0.89563000000000004</c:v>
                </c:pt>
                <c:pt idx="28">
                  <c:v>0.89520999999999995</c:v>
                </c:pt>
                <c:pt idx="29">
                  <c:v>0.88573000000000002</c:v>
                </c:pt>
                <c:pt idx="30">
                  <c:v>0.8841</c:v>
                </c:pt>
                <c:pt idx="31">
                  <c:v>0.87089000000000005</c:v>
                </c:pt>
                <c:pt idx="32">
                  <c:v>0.87012</c:v>
                </c:pt>
                <c:pt idx="33">
                  <c:v>0.86587999999999998</c:v>
                </c:pt>
                <c:pt idx="34">
                  <c:v>0.84965999999999997</c:v>
                </c:pt>
                <c:pt idx="35">
                  <c:v>0.85331999999999997</c:v>
                </c:pt>
                <c:pt idx="36">
                  <c:v>0.87139</c:v>
                </c:pt>
                <c:pt idx="37">
                  <c:v>0.87407999999999997</c:v>
                </c:pt>
                <c:pt idx="38">
                  <c:v>0.86162000000000005</c:v>
                </c:pt>
                <c:pt idx="39">
                  <c:v>0.87585999999999997</c:v>
                </c:pt>
                <c:pt idx="40">
                  <c:v>0.83470999999999995</c:v>
                </c:pt>
                <c:pt idx="41">
                  <c:v>0.84287000000000001</c:v>
                </c:pt>
                <c:pt idx="42">
                  <c:v>0.83779999999999999</c:v>
                </c:pt>
                <c:pt idx="43">
                  <c:v>0.84253999999999996</c:v>
                </c:pt>
                <c:pt idx="44">
                  <c:v>0.83331999999999995</c:v>
                </c:pt>
                <c:pt idx="45">
                  <c:v>0.83826000000000001</c:v>
                </c:pt>
                <c:pt idx="46">
                  <c:v>0.82471000000000005</c:v>
                </c:pt>
                <c:pt idx="47">
                  <c:v>0.83957000000000004</c:v>
                </c:pt>
                <c:pt idx="48">
                  <c:v>0.83248999999999995</c:v>
                </c:pt>
                <c:pt idx="49">
                  <c:v>0.82240000000000002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FA6-4631-B0E6-F034241D4979}"/>
            </c:ext>
          </c:extLst>
        </c:ser>
        <c:ser>
          <c:idx val="1"/>
          <c:order val="1"/>
          <c:tx>
            <c:v>雨天训练</c:v>
          </c:tx>
          <c:spPr>
            <a:ln w="23813">
              <a:solidFill>
                <a:srgbClr val="007E83"/>
              </a:solidFill>
            </a:ln>
          </c:spPr>
          <c:marker>
            <c:symbol val="none"/>
          </c:marker>
          <c:cat>
            <c:numRef>
              <c:f>'Chart Data'!$C$2:$C$51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'Chart Data'!$D$2:$D$51</c:f>
              <c:numCache>
                <c:formatCode>0.0</c:formatCode>
                <c:ptCount val="50"/>
                <c:pt idx="0">
                  <c:v>1.85164</c:v>
                </c:pt>
                <c:pt idx="1">
                  <c:v>1.6372500000000001</c:v>
                </c:pt>
                <c:pt idx="2">
                  <c:v>1.4965599999999999</c:v>
                </c:pt>
                <c:pt idx="3">
                  <c:v>1.4299299999999999</c:v>
                </c:pt>
                <c:pt idx="4">
                  <c:v>1.40724</c:v>
                </c:pt>
                <c:pt idx="5">
                  <c:v>1.35795</c:v>
                </c:pt>
                <c:pt idx="6">
                  <c:v>1.29084</c:v>
                </c:pt>
                <c:pt idx="7">
                  <c:v>1.26054</c:v>
                </c:pt>
                <c:pt idx="8">
                  <c:v>1.2407300000000001</c:v>
                </c:pt>
                <c:pt idx="9">
                  <c:v>1.20888</c:v>
                </c:pt>
                <c:pt idx="10">
                  <c:v>1.19747</c:v>
                </c:pt>
                <c:pt idx="11">
                  <c:v>1.13158</c:v>
                </c:pt>
                <c:pt idx="12">
                  <c:v>1.14333</c:v>
                </c:pt>
                <c:pt idx="13">
                  <c:v>1.13151</c:v>
                </c:pt>
                <c:pt idx="14">
                  <c:v>1.12751</c:v>
                </c:pt>
                <c:pt idx="15">
                  <c:v>1.0830500000000001</c:v>
                </c:pt>
                <c:pt idx="16">
                  <c:v>1.0741499999999999</c:v>
                </c:pt>
                <c:pt idx="17">
                  <c:v>1.0783700000000001</c:v>
                </c:pt>
                <c:pt idx="18">
                  <c:v>1.07769</c:v>
                </c:pt>
                <c:pt idx="19">
                  <c:v>1.0485899999999999</c:v>
                </c:pt>
                <c:pt idx="20">
                  <c:v>1.0483499999999999</c:v>
                </c:pt>
                <c:pt idx="21">
                  <c:v>1.0494399999999999</c:v>
                </c:pt>
                <c:pt idx="22">
                  <c:v>1.0294099999999999</c:v>
                </c:pt>
                <c:pt idx="23">
                  <c:v>1.02057</c:v>
                </c:pt>
                <c:pt idx="24">
                  <c:v>0.99145000000000005</c:v>
                </c:pt>
                <c:pt idx="25">
                  <c:v>1.0189600000000001</c:v>
                </c:pt>
                <c:pt idx="26">
                  <c:v>0.99663999999999997</c:v>
                </c:pt>
                <c:pt idx="27">
                  <c:v>1.00071</c:v>
                </c:pt>
                <c:pt idx="28">
                  <c:v>0.98219000000000001</c:v>
                </c:pt>
                <c:pt idx="29">
                  <c:v>0.97982000000000002</c:v>
                </c:pt>
                <c:pt idx="30">
                  <c:v>0.97918000000000005</c:v>
                </c:pt>
                <c:pt idx="31">
                  <c:v>0.97563</c:v>
                </c:pt>
                <c:pt idx="32">
                  <c:v>0.97645999999999999</c:v>
                </c:pt>
                <c:pt idx="33">
                  <c:v>0.97452000000000005</c:v>
                </c:pt>
                <c:pt idx="34">
                  <c:v>0.94645999999999997</c:v>
                </c:pt>
                <c:pt idx="35">
                  <c:v>0.94989000000000001</c:v>
                </c:pt>
                <c:pt idx="36">
                  <c:v>0.97328000000000003</c:v>
                </c:pt>
                <c:pt idx="37">
                  <c:v>0.96843999999999997</c:v>
                </c:pt>
                <c:pt idx="38">
                  <c:v>0.95472000000000001</c:v>
                </c:pt>
                <c:pt idx="39">
                  <c:v>0.95967999999999998</c:v>
                </c:pt>
                <c:pt idx="40">
                  <c:v>0.93738999999999995</c:v>
                </c:pt>
                <c:pt idx="41">
                  <c:v>0.93593000000000004</c:v>
                </c:pt>
                <c:pt idx="42">
                  <c:v>0.94427000000000005</c:v>
                </c:pt>
                <c:pt idx="43">
                  <c:v>0.93935999999999997</c:v>
                </c:pt>
                <c:pt idx="44">
                  <c:v>0.92893999999999999</c:v>
                </c:pt>
                <c:pt idx="45">
                  <c:v>0.92737000000000003</c:v>
                </c:pt>
                <c:pt idx="46">
                  <c:v>0.91988999999999999</c:v>
                </c:pt>
                <c:pt idx="47">
                  <c:v>0.91471999999999998</c:v>
                </c:pt>
                <c:pt idx="48">
                  <c:v>0.93140000000000001</c:v>
                </c:pt>
                <c:pt idx="49">
                  <c:v>0.92186000000000001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FA6-4631-B0E6-F034241D49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tickLblSkip val="10"/>
        <c:noMultiLvlLbl val="1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w="9525">
              <a:solidFill>
                <a:srgbClr val="D9E2E9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5"/>
      </c:valAx>
    </c:plotArea>
    <c:legend>
      <c:legendPos val="b"/>
      <c:overlay val="0"/>
      <c:txPr>
        <a:bodyPr anchorCtr="1"/>
        <a:lstStyle/>
        <a:p>
          <a:pPr>
            <a:defRPr sz="1275"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晴天训练</c:v>
          </c:tx>
          <c:spPr>
            <a:ln w="23813">
              <a:solidFill>
                <a:srgbClr val="205EB5"/>
              </a:solidFill>
            </a:ln>
          </c:spPr>
          <c:marker>
            <c:symbol val="none"/>
          </c:marker>
          <c:cat>
            <c:numRef>
              <c:f>'Chart Data'!$A$2:$A$51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'Chart Data'!$B$2:$B$51</c:f>
              <c:numCache>
                <c:formatCode>0"%"</c:formatCode>
                <c:ptCount val="50"/>
                <c:pt idx="0">
                  <c:v>14.342000000000001</c:v>
                </c:pt>
                <c:pt idx="1">
                  <c:v>24.571999999999999</c:v>
                </c:pt>
                <c:pt idx="2">
                  <c:v>26.286000000000001</c:v>
                </c:pt>
                <c:pt idx="3">
                  <c:v>27.077999999999999</c:v>
                </c:pt>
                <c:pt idx="4">
                  <c:v>28.042000000000002</c:v>
                </c:pt>
                <c:pt idx="5">
                  <c:v>28.905999999999999</c:v>
                </c:pt>
                <c:pt idx="6">
                  <c:v>29.94</c:v>
                </c:pt>
                <c:pt idx="7">
                  <c:v>30.463999999999999</c:v>
                </c:pt>
                <c:pt idx="8">
                  <c:v>31.658999999999999</c:v>
                </c:pt>
                <c:pt idx="9">
                  <c:v>32.906999999999996</c:v>
                </c:pt>
                <c:pt idx="10">
                  <c:v>33.323999999999998</c:v>
                </c:pt>
                <c:pt idx="11">
                  <c:v>33.686</c:v>
                </c:pt>
                <c:pt idx="12">
                  <c:v>34.658999999999999</c:v>
                </c:pt>
                <c:pt idx="13">
                  <c:v>34.939</c:v>
                </c:pt>
                <c:pt idx="14">
                  <c:v>34.942</c:v>
                </c:pt>
                <c:pt idx="15">
                  <c:v>35.042000000000002</c:v>
                </c:pt>
                <c:pt idx="16">
                  <c:v>34.207000000000001</c:v>
                </c:pt>
                <c:pt idx="17">
                  <c:v>34.061</c:v>
                </c:pt>
                <c:pt idx="18">
                  <c:v>35.024000000000001</c:v>
                </c:pt>
                <c:pt idx="19">
                  <c:v>34.929000000000002</c:v>
                </c:pt>
                <c:pt idx="20">
                  <c:v>35.44</c:v>
                </c:pt>
                <c:pt idx="21">
                  <c:v>35.957999999999998</c:v>
                </c:pt>
                <c:pt idx="22">
                  <c:v>36.048999999999999</c:v>
                </c:pt>
                <c:pt idx="23">
                  <c:v>36.347000000000001</c:v>
                </c:pt>
                <c:pt idx="24">
                  <c:v>35.814</c:v>
                </c:pt>
                <c:pt idx="25">
                  <c:v>36.015999999999998</c:v>
                </c:pt>
                <c:pt idx="26">
                  <c:v>36.07</c:v>
                </c:pt>
                <c:pt idx="27">
                  <c:v>36.295000000000002</c:v>
                </c:pt>
                <c:pt idx="28">
                  <c:v>36.290999999999997</c:v>
                </c:pt>
                <c:pt idx="29">
                  <c:v>36.305</c:v>
                </c:pt>
                <c:pt idx="30">
                  <c:v>36.194000000000003</c:v>
                </c:pt>
                <c:pt idx="31">
                  <c:v>36.406999999999996</c:v>
                </c:pt>
                <c:pt idx="32">
                  <c:v>36.496000000000002</c:v>
                </c:pt>
                <c:pt idx="33">
                  <c:v>36.414999999999999</c:v>
                </c:pt>
                <c:pt idx="34">
                  <c:v>36.28</c:v>
                </c:pt>
                <c:pt idx="35">
                  <c:v>36.752000000000002</c:v>
                </c:pt>
                <c:pt idx="36">
                  <c:v>36.749000000000002</c:v>
                </c:pt>
                <c:pt idx="37">
                  <c:v>36.725000000000001</c:v>
                </c:pt>
                <c:pt idx="38">
                  <c:v>36.566000000000003</c:v>
                </c:pt>
                <c:pt idx="39">
                  <c:v>36.546999999999997</c:v>
                </c:pt>
                <c:pt idx="40">
                  <c:v>36.457000000000001</c:v>
                </c:pt>
                <c:pt idx="41">
                  <c:v>36.545999999999999</c:v>
                </c:pt>
                <c:pt idx="42">
                  <c:v>36.418999999999997</c:v>
                </c:pt>
                <c:pt idx="43">
                  <c:v>36.435000000000002</c:v>
                </c:pt>
                <c:pt idx="44">
                  <c:v>36.598999999999997</c:v>
                </c:pt>
                <c:pt idx="45">
                  <c:v>36.783999999999999</c:v>
                </c:pt>
                <c:pt idx="46">
                  <c:v>36.841999999999999</c:v>
                </c:pt>
                <c:pt idx="47">
                  <c:v>36.890999999999998</c:v>
                </c:pt>
                <c:pt idx="48">
                  <c:v>37.052999999999997</c:v>
                </c:pt>
                <c:pt idx="49">
                  <c:v>37.106999999999999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314-45AD-97E6-07DF3714934C}"/>
            </c:ext>
          </c:extLst>
        </c:ser>
        <c:ser>
          <c:idx val="1"/>
          <c:order val="1"/>
          <c:tx>
            <c:v>雨天训练</c:v>
          </c:tx>
          <c:spPr>
            <a:ln w="23813">
              <a:solidFill>
                <a:srgbClr val="007E83"/>
              </a:solidFill>
            </a:ln>
          </c:spPr>
          <c:marker>
            <c:symbol val="none"/>
          </c:marker>
          <c:cat>
            <c:numRef>
              <c:f>'Chart Data'!$C$2:$C$51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'Chart Data'!$D$2:$D$51</c:f>
              <c:numCache>
                <c:formatCode>0"%"</c:formatCode>
                <c:ptCount val="50"/>
                <c:pt idx="0">
                  <c:v>4.2949999999999999</c:v>
                </c:pt>
                <c:pt idx="1">
                  <c:v>18.812000000000001</c:v>
                </c:pt>
                <c:pt idx="2">
                  <c:v>21.687000000000001</c:v>
                </c:pt>
                <c:pt idx="3">
                  <c:v>24.466999999999999</c:v>
                </c:pt>
                <c:pt idx="4">
                  <c:v>25.585999999999999</c:v>
                </c:pt>
                <c:pt idx="5">
                  <c:v>26.123999999999999</c:v>
                </c:pt>
                <c:pt idx="6">
                  <c:v>27.515000000000001</c:v>
                </c:pt>
                <c:pt idx="7">
                  <c:v>27.817</c:v>
                </c:pt>
                <c:pt idx="8">
                  <c:v>29.018000000000001</c:v>
                </c:pt>
                <c:pt idx="9">
                  <c:v>29.149000000000001</c:v>
                </c:pt>
                <c:pt idx="10">
                  <c:v>28.564</c:v>
                </c:pt>
                <c:pt idx="11">
                  <c:v>29.72</c:v>
                </c:pt>
                <c:pt idx="12">
                  <c:v>29.591999999999999</c:v>
                </c:pt>
                <c:pt idx="13">
                  <c:v>31.361999999999998</c:v>
                </c:pt>
                <c:pt idx="14">
                  <c:v>31.567</c:v>
                </c:pt>
                <c:pt idx="15">
                  <c:v>30.876999999999999</c:v>
                </c:pt>
                <c:pt idx="16">
                  <c:v>32.572000000000003</c:v>
                </c:pt>
                <c:pt idx="17">
                  <c:v>30.71</c:v>
                </c:pt>
                <c:pt idx="18">
                  <c:v>31.844000000000001</c:v>
                </c:pt>
                <c:pt idx="19">
                  <c:v>32.357999999999997</c:v>
                </c:pt>
                <c:pt idx="20">
                  <c:v>31.218</c:v>
                </c:pt>
                <c:pt idx="21">
                  <c:v>32.542999999999999</c:v>
                </c:pt>
                <c:pt idx="22">
                  <c:v>31.331</c:v>
                </c:pt>
                <c:pt idx="23">
                  <c:v>31.901</c:v>
                </c:pt>
                <c:pt idx="24">
                  <c:v>32.649000000000001</c:v>
                </c:pt>
                <c:pt idx="25">
                  <c:v>31.992000000000001</c:v>
                </c:pt>
                <c:pt idx="26">
                  <c:v>33.116999999999997</c:v>
                </c:pt>
                <c:pt idx="27">
                  <c:v>33.46</c:v>
                </c:pt>
                <c:pt idx="28">
                  <c:v>32.401000000000003</c:v>
                </c:pt>
                <c:pt idx="29">
                  <c:v>33.631999999999998</c:v>
                </c:pt>
                <c:pt idx="30">
                  <c:v>33.930999999999997</c:v>
                </c:pt>
                <c:pt idx="31">
                  <c:v>33.19</c:v>
                </c:pt>
                <c:pt idx="32">
                  <c:v>34.006999999999998</c:v>
                </c:pt>
                <c:pt idx="33">
                  <c:v>34.113999999999997</c:v>
                </c:pt>
                <c:pt idx="34">
                  <c:v>33.604999999999997</c:v>
                </c:pt>
                <c:pt idx="35">
                  <c:v>33.593000000000004</c:v>
                </c:pt>
                <c:pt idx="36">
                  <c:v>33.869</c:v>
                </c:pt>
                <c:pt idx="37">
                  <c:v>33.911999999999999</c:v>
                </c:pt>
                <c:pt idx="38">
                  <c:v>33.226999999999997</c:v>
                </c:pt>
                <c:pt idx="39">
                  <c:v>33.128999999999998</c:v>
                </c:pt>
                <c:pt idx="40">
                  <c:v>33.817</c:v>
                </c:pt>
                <c:pt idx="41">
                  <c:v>33.966000000000001</c:v>
                </c:pt>
                <c:pt idx="42">
                  <c:v>34.045999999999999</c:v>
                </c:pt>
                <c:pt idx="43">
                  <c:v>33.936999999999998</c:v>
                </c:pt>
                <c:pt idx="44">
                  <c:v>34.118000000000002</c:v>
                </c:pt>
                <c:pt idx="45">
                  <c:v>34.436</c:v>
                </c:pt>
                <c:pt idx="46">
                  <c:v>34.656999999999996</c:v>
                </c:pt>
                <c:pt idx="47">
                  <c:v>34.54</c:v>
                </c:pt>
                <c:pt idx="48">
                  <c:v>34.527000000000001</c:v>
                </c:pt>
                <c:pt idx="49">
                  <c:v>34.237000000000002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314-45AD-97E6-07DF371493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tickLblSkip val="10"/>
        <c:noMultiLvlLbl val="1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9525">
              <a:solidFill>
                <a:srgbClr val="D9E2E9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</c:plotArea>
    <c:legend>
      <c:legendPos val="b"/>
      <c:overlay val="0"/>
      <c:txPr>
        <a:bodyPr anchorCtr="1"/>
        <a:lstStyle/>
        <a:p>
          <a:pPr>
            <a:defRPr sz="1275"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原始模型</c:v>
          </c:tx>
          <c:spPr>
            <a:solidFill>
              <a:srgbClr val="8A99A9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晴天测试集</c:v>
                </c:pt>
                <c:pt idx="1">
                  <c:v>雨天测试集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26.348246</c:v>
                </c:pt>
                <c:pt idx="1">
                  <c:v>15.92165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D8-48CE-9D27-00F2F02A6DB0}"/>
            </c:ext>
          </c:extLst>
        </c:ser>
        <c:ser>
          <c:idx val="1"/>
          <c:order val="1"/>
          <c:tx>
            <c:v>晴天微调</c:v>
          </c:tx>
          <c:spPr>
            <a:solidFill>
              <a:srgbClr val="205EB5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晴天测试集</c:v>
                </c:pt>
                <c:pt idx="1">
                  <c:v>雨天测试集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40.964835000000001</c:v>
                </c:pt>
                <c:pt idx="1">
                  <c:v>24.320724999999999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D8-48CE-9D27-00F2F02A6DB0}"/>
            </c:ext>
          </c:extLst>
        </c:ser>
        <c:ser>
          <c:idx val="2"/>
          <c:order val="2"/>
          <c:tx>
            <c:v>雨天微调</c:v>
          </c:tx>
          <c:spPr>
            <a:solidFill>
              <a:srgbClr val="007E83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晴天测试集</c:v>
                </c:pt>
                <c:pt idx="1">
                  <c:v>雨天测试集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31.553453000000001</c:v>
                </c:pt>
                <c:pt idx="1">
                  <c:v>39.373775000000002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D8-48CE-9D27-00F2F02A6D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9525">
              <a:solidFill>
                <a:srgbClr val="D9E2E9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</c:plotArea>
    <c:legend>
      <c:legendPos val="b"/>
      <c:overlay val="0"/>
      <c:txPr>
        <a:bodyPr anchorCtr="1"/>
        <a:lstStyle/>
        <a:p>
          <a:pPr>
            <a:defRPr sz="1650"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原始</c:v>
          </c:tx>
          <c:spPr>
            <a:solidFill>
              <a:srgbClr val="8A99A9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车辆</c:v>
                </c:pt>
                <c:pt idx="1">
                  <c:v>行人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19.604619</c:v>
                </c:pt>
                <c:pt idx="1">
                  <c:v>12.238681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69-412E-99E4-69F0D718220E}"/>
            </c:ext>
          </c:extLst>
        </c:ser>
        <c:ser>
          <c:idx val="1"/>
          <c:order val="1"/>
          <c:tx>
            <c:v>雨天微调</c:v>
          </c:tx>
          <c:spPr>
            <a:solidFill>
              <a:srgbClr val="007E83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车辆</c:v>
                </c:pt>
                <c:pt idx="1">
                  <c:v>行人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49.752454999999998</c:v>
                </c:pt>
                <c:pt idx="1">
                  <c:v>28.995094999999999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69-412E-99E4-69F0D718220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D9E2E9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legend>
      <c:legendPos val="b"/>
      <c:overlay val="0"/>
      <c:txPr>
        <a:bodyPr anchorCtr="1"/>
        <a:lstStyle/>
        <a:p>
          <a:pPr>
            <a:defRPr sz="1200"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老师好，我是李道博。这周我完成了驾驶基线、晴雨数据制作和两次五十轮模型微调。今天按三个阶段汇报：先看驾驶系统和失败案例，再看数据与训练，最后看检测结果和下一步。</a:t>
            </a:r>
          </a:p>
          <a:p>
            <a:endParaRPr/>
          </a:p>
          <a:p>
            <a:r>
              <a:t>操作提示：开场控制在25秒，不解释指标。</a:t>
            </a:r>
          </a:p>
          <a:p>
            <a:endParaRPr/>
          </a:p>
          <a:p>
            <a:r>
              <a:t>证据来源：本机实验记录：10月12日至16日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周完成十次驾驶基线、六百对晴雨图像、两个各五十轮的微调模型，以及三个模型在两种天气下的六组检测评估。整个过程分为基线与问题定位、数据制作、模型微调与评价三个阶段。当前检测改善已经测得，驾驶安全改善还没有验证。</a:t>
            </a:r>
          </a:p>
          <a:p>
            <a:endParaRPr/>
          </a:p>
          <a:p>
            <a:r>
              <a:t>操作提示：先读四个数字，再沿下方三个阶段从左到右。</a:t>
            </a:r>
          </a:p>
          <a:p>
            <a:endParaRPr/>
          </a:p>
          <a:p>
            <a:r>
              <a:t>证据来源：驾驶日志、数据卡、训练CSV、experiment.json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初始权重来自Jkdxbns的CARLA项目及配套Hugging Face仓库，实际模型是YOLO11n。摄像头图像进入检测器，结果再由风险规则决定油门和刹车，转向使用地图路点。晴天原型在五秒制动、五点六秒停车、十点一秒恢复，并在二十二点九秒到达终点。YOLO负责感知，目前没有训练控制网络。</a:t>
            </a:r>
          </a:p>
          <a:p>
            <a:endParaRPr/>
          </a:p>
          <a:p>
            <a:r>
              <a:t>操作提示：先讲来源，再指右侧截图；可播放23秒晴天视频。</a:t>
            </a:r>
          </a:p>
          <a:p>
            <a:endParaRPr/>
          </a:p>
          <a:p>
            <a:r>
              <a:t>证据来源：SOURCE.md；run_baseline.py；晴天原型逐帧日志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次成功演示之后，我固定道路和控制器，设计正常、慢速、快速、较晚触发和反方向横穿五种设置，每种分别测试晴天和雨天。晴天五次均无碰撞到达，雨天四次无碰撞到达，S04较晚触发发生碰撞。这十次使用原始预训练模型，属于初步基线，不能视为普遍安全率。</a:t>
            </a:r>
          </a:p>
          <a:p>
            <a:endParaRPr/>
          </a:p>
          <a:p>
            <a:r>
              <a:t>操作提示：指S04行和底部5/5、4/5，不逐行朗读。</a:t>
            </a:r>
          </a:p>
          <a:p>
            <a:endParaRPr/>
          </a:p>
          <a:p>
            <a:r>
              <a:t>证据来源：all_10_runs.csv；scenario_design.json；S04复测记录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组配对中，雨天首次刹车平均晚零点三三秒。S04雨天在七点八五秒开始刹车，八点零五秒松刹，八点九五秒碰撞。松刹时仍有置信度零点八四的行人框，但横向估计负一点九一六米刚超过正负一点九米危险边界。之后也有漏检，因此目前只确认风险筛选与控制衔接存在问题，不能给出单一根因。</a:t>
            </a:r>
          </a:p>
          <a:p>
            <a:endParaRPr/>
          </a:p>
          <a:p>
            <a:r>
              <a:t>操作提示：先指截图中的行人，再沿时间轴讲；0.33秒是五组描述性结果。</a:t>
            </a:r>
          </a:p>
          <a:p>
            <a:endParaRPr/>
          </a:p>
          <a:p>
            <a:r>
              <a:t>证据来源：S04失败控制与检测CSV；S04_detected_but_brake_released.jpg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为了研究天气影响，我在Town02固定物体布置和相机位置，分别采集晴天和强雨天。六十个布置、每个十个视角、两种天气，共一千二百张图像。同步实例编码相机提供每个目标的可见像素，程序据此生成车辆和行人的YOLO包围框。标签来自仿真器真值，不是检测模型自己的预测。</a:t>
            </a:r>
          </a:p>
          <a:p>
            <a:endParaRPr/>
          </a:p>
          <a:p>
            <a:r>
              <a:t>操作提示：先看上方晴雨对，再沿下方RGB、实例编码、检测框讲。</a:t>
            </a:r>
          </a:p>
          <a:p>
            <a:endParaRPr/>
          </a:p>
          <a:p>
            <a:r>
              <a:t>证据来源：collect_weather_training.py；design.json；manifest.json；实例编码图与YOLO标签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种天气包含三百八十张训练图、一百二十张验证图和一百张测试图。正式数据共两千一百三十九个车辆框、五千二百七十九个行人框。数据按整条道路划分，同一晴雨配对保持在同一组。前两批采集曾因行人在地面以下而没有行人标签，修正生成高度后先用十二张探针确认，再重采集；错误批次未进入正式数据。</a:t>
            </a:r>
          </a:p>
          <a:p>
            <a:endParaRPr/>
          </a:p>
          <a:p>
            <a:r>
              <a:t>操作提示：先解释训练、验证、测试用途，再讲一次真实排错。</a:t>
            </a:r>
          </a:p>
          <a:p>
            <a:endParaRPr/>
          </a:p>
          <a:p>
            <a:r>
              <a:t>证据来源：DATASET_CARD.md；audit.json；design.json；排除批次记录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使用迁移学习，不是从零训练。晴天模型和雨天模型都重新加载同一个原始YOLO11n权重，分别使用各自三百八十张训练图，独立训练五十轮。两组采用相同输入尺寸、批次大小、优化器、学习率和随机种子，主要区别是训练天气。原四类检测头调整为车辆和行人两类。</a:t>
            </a:r>
          </a:p>
          <a:p>
            <a:endParaRPr/>
          </a:p>
          <a:p>
            <a:r>
              <a:t>操作提示：强调两个模型从同一权重分开训练，不是连续训练。</a:t>
            </a:r>
          </a:p>
          <a:p>
            <a:endParaRPr/>
          </a:p>
          <a:p>
            <a:r>
              <a:t>证据来源：train_weather_models.py；clear.yaml；rain.yaml；两份args.yaml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张曲线来自每轮CSV，各有五十个真实数据点。定位损失整体下降，验证集mAP整体上升，说明模型参数确实完成学习。晴天最佳权重出现在第五十轮，雨天出现在第四十七轮，但两次都完成五十轮。晴天训练约十点六分钟，雨天约十一分钟。</a:t>
            </a:r>
          </a:p>
          <a:p>
            <a:endParaRPr/>
          </a:p>
          <a:p>
            <a:r>
              <a:t>操作提示：左图讲损失，右图讲验证指标；不要逐点朗读。</a:t>
            </a:r>
          </a:p>
          <a:p>
            <a:endParaRPr/>
          </a:p>
          <a:p>
            <a:r>
              <a:t>证据来源：clear_50epochs.csv；rain_50epochs.csv；final_verification.json；两份best.pt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始、晴天微调和雨天微调三个模型分别测试同一批晴天和雨天留出图片。晴天对应模型从二十六点三提高到四十一点零，增加十四点六个百分点；雨天对应模型从十五点九提高到三十九点四，增加二十三点五个百分点。mAP50到95衡量检测与定位表现，不是驾驶安全率。</a:t>
            </a:r>
          </a:p>
          <a:p>
            <a:endParaRPr/>
          </a:p>
          <a:p>
            <a:r>
              <a:t>操作提示：先解释横轴是测试天气、颜色是模型，再讲两个提升。</a:t>
            </a:r>
          </a:p>
          <a:p>
            <a:endParaRPr/>
          </a:p>
          <a:p>
            <a:r>
              <a:t>证据来源：experiment.json；每种天气100张测试图；测试集未参与训练和权重选择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张雨天测试图在零点三五显示阈值下，原始模型没有显示检测框，雨天微调模型检出更多车辆和行人，但仍有漏检。分类别结果中，雨天微调后车辆AP从十九点六升至四十九点八，行人从十二点二升至二十九点零。两类都改善，但行人仍是较弱类别。</a:t>
            </a:r>
          </a:p>
          <a:p>
            <a:endParaRPr/>
          </a:p>
          <a:p>
            <a:r>
              <a:t>操作提示：左侧只讲一张图的直观变化，右侧讲分类别结果；整体结论仍以测试集为准。</a:t>
            </a:r>
          </a:p>
          <a:p>
            <a:endParaRPr/>
          </a:p>
          <a:p>
            <a:r>
              <a:t>证据来源：fixed_example_predictions.jpg；experiment.json雨天per_class；固定测试集首个样本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只说明Proposal阶段的分工。第一位成员主导整体框架、研究问题、实验路线和先导实验，并负责材料整合，占百分之六十。其余四位分别负责相关工作、数据与增强方案、评价设计、计划与质量检查，各占百分之十。姓名将在提交前由小组补充。</a:t>
            </a:r>
          </a:p>
          <a:p>
            <a:endParaRPr/>
          </a:p>
          <a:p>
            <a:r>
              <a:t>操作提示：不要逐字朗读五行，只说明分工依据和合计100%。</a:t>
            </a:r>
          </a:p>
          <a:p>
            <a:endParaRPr/>
          </a:p>
          <a:p>
            <a:r>
              <a:t>证据来源：Proposal阶段分工建议；成员姓名待小组填写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周已经交付十次驾驶基线、一千二百张带标签图像、两个五十轮模型和六组检测评估。当前可支持的结论是，微调提高了这批仿真图片上的检测指标。下一步固定控制器，重新执行三个模型、五种设置、两种天气，共三十次闭环驾驶测试；之后做匹配预算的天气增强对照，并与老师确认是否必须训练控制模型。</a:t>
            </a:r>
          </a:p>
          <a:p>
            <a:endParaRPr/>
          </a:p>
          <a:p>
            <a:r>
              <a:t>操作提示：最后强调已完成和计划的边界，然后停下来听老师意见。</a:t>
            </a:r>
          </a:p>
          <a:p>
            <a:endParaRPr/>
          </a:p>
          <a:p>
            <a:r>
              <a:t>证据来源：本周实验记录；Topic 4研究问题；后续30次与增强实验尚未执行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回答逐次测试、完全停车和零点三三秒如何计算。五组晴雨首次刹车差分别为零点三五、零点五五、零点一五、零点四零和零点二零秒，平均零点三三秒。S04雨天因碰撞终止，S05晴天无碰撞到达但未完全停车。</a:t>
            </a:r>
          </a:p>
          <a:p>
            <a:endParaRPr/>
          </a:p>
          <a:p>
            <a:r>
              <a:t>操作提示：主汇报不主动逐行讲，老师追问时打开。</a:t>
            </a:r>
          </a:p>
          <a:p>
            <a:endParaRPr/>
          </a:p>
          <a:p>
            <a:r>
              <a:t>证据来源：all_10_runs.csv；时间为模拟秒；使用原始预训练模型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本页用于回答Precision、Recall、mAP50和mAP50到95的具体数值。P表示报出的目标中有多少正确，R表示真实目标中找到多少。雨天原始模型到雨天微调模型，P从三十九点九升至八十点九，R从二十四点六升至六十点五。</a:t>
            </a:r>
          </a:p>
          <a:p>
            <a:endParaRPr/>
          </a:p>
          <a:p>
            <a:r>
              <a:t>操作提示：主汇报只展示mAP柱状图，指标追问时再打开。</a:t>
            </a:r>
          </a:p>
          <a:p>
            <a:endParaRPr/>
          </a:p>
          <a:p>
            <a:r>
              <a:t>证据来源：experiment.json；每种天气100张测试图；统一评估设置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RLA、YOLO架构和初始权重属于开源复用。本周新增工作包括系统集成、场景设置、日志、配对数据、标签核查、两次微调、六组评价和失败分析。实现和材料整理使用AI辅助，实验数据来自本机记录。模型来源和关键文件均保留。</a:t>
            </a:r>
          </a:p>
          <a:p>
            <a:endParaRPr/>
          </a:p>
          <a:p>
            <a:r>
              <a:t>操作提示：老师追问原创性、AI或文件位置时使用。</a:t>
            </a:r>
          </a:p>
          <a:p>
            <a:endParaRPr/>
          </a:p>
          <a:p>
            <a:r>
              <a:t>证据来源：SOURCE.md；实验脚本；数据卡；CSV；experiment.json；best.pt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702164F-DD0E-4C15-9BA8-E4626A87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8E4E7D2-5335-423D-972E-EEFA37616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2ABBC19-2119-41C8-8D02-B209A0B42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D7E0828-95AA-405A-B556-4E37895E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BC9B595-F253-4E38-8442-AFA5923F2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333F806-DE75-4EF5-8F2D-416B0D4D9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B68C76E-90DB-4596-A0F1-0C2D76D3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CB4A38E-3DB9-4F6A-B8AA-BB3E682EDD4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EF9AD0D-FFE9-45E3-B566-BBBAA170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1317212-64F5-4324-8377-4D6497979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4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F42F774-04C3-4F83-B26A-EB25E2F655A3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COMP4610SEF　第18组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DF0061-2168-4B2D-8CEA-524F4B4E1529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第二周工作汇报</a:t>
            </a:r>
          </a:p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驾驶基线、数据制作与模型微调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AB6B72-7053-48CB-9FD2-6A7217146162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本机实验记录：10月12日至16日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5F62C1-D0B3-4766-9F85-9DF310374093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60597C-30F4-4550-8F92-F68ED2A97A3C}"/>
              </a:ext>
            </a:extLst>
          </p:cNvPr>
          <p:cNvSpPr>
            <a:spLocks noGrp="1"/>
          </p:cNvSpPr>
          <p:nvPr/>
        </p:nvSpPr>
        <p:spPr>
          <a:xfrm>
            <a:off x="514350" y="17335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从可运行原型到可复核的训练结果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809035-E726-409E-9BBF-588C21D91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7008" y="2647950"/>
            <a:ext cx="4465934" cy="304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FDC678A-279D-4C7A-A2C0-C2FF154E786C}"/>
              </a:ext>
            </a:extLst>
          </p:cNvPr>
          <p:cNvSpPr>
            <a:spLocks noGrp="1"/>
          </p:cNvSpPr>
          <p:nvPr/>
        </p:nvSpPr>
        <p:spPr>
          <a:xfrm>
            <a:off x="7477125" y="2790825"/>
            <a:ext cx="3714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10 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19DE86-5A30-47ED-9E9B-2BF8C9488A3C}"/>
              </a:ext>
            </a:extLst>
          </p:cNvPr>
          <p:cNvSpPr>
            <a:spLocks noGrp="1"/>
          </p:cNvSpPr>
          <p:nvPr/>
        </p:nvSpPr>
        <p:spPr>
          <a:xfrm>
            <a:off x="7477125" y="340042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晴雨驾驶基线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370C65-4CCC-4575-8C07-333F7D5335F8}"/>
              </a:ext>
            </a:extLst>
          </p:cNvPr>
          <p:cNvSpPr>
            <a:spLocks noGrp="1"/>
          </p:cNvSpPr>
          <p:nvPr/>
        </p:nvSpPr>
        <p:spPr>
          <a:xfrm>
            <a:off x="7477125" y="4133850"/>
            <a:ext cx="3714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1,200 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8AFB97-17B6-49D1-AA1D-386B2F781111}"/>
              </a:ext>
            </a:extLst>
          </p:cNvPr>
          <p:cNvSpPr>
            <a:spLocks noGrp="1"/>
          </p:cNvSpPr>
          <p:nvPr/>
        </p:nvSpPr>
        <p:spPr>
          <a:xfrm>
            <a:off x="7477125" y="47434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带仿真器标签的图像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FFE5D6-CEE8-4973-A4E4-5FA7DCD7F9A3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LI DAOBO　13407753　导师 Flora　2026年10月19日</a:t>
            </a:r>
          </a:p>
        </p:txBody>
      </p:sp>
    </p:spTree>
    <p:extLst>
      <p:ext uri="{BB962C8B-B14F-4D97-AF65-F5344CB8AC3E}">
        <p14:creationId xmlns:p14="http://schemas.microsoft.com/office/powerpoint/2010/main" val="108882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B23904F-0376-4ABF-A4CF-A523EF18D89F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成果总览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9ABCF5E-FA18-454C-A265-EC3E710D9B3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本周成果与技术路线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05AA69-4AED-4C26-9240-0BAB4727D662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驾驶日志、数据卡、训练CSV、experiment.json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A048D4-3924-4669-A6BE-92C614B0F0EA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DA1147-E8C5-4701-A5D1-F7AAEE701AA0}"/>
              </a:ext>
            </a:extLst>
          </p:cNvPr>
          <p:cNvSpPr>
            <a:spLocks noGrp="1"/>
          </p:cNvSpPr>
          <p:nvPr/>
        </p:nvSpPr>
        <p:spPr>
          <a:xfrm>
            <a:off x="514350" y="1676400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10 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E35C1F-1F61-4AB0-8061-ADB5F8249CE3}"/>
              </a:ext>
            </a:extLst>
          </p:cNvPr>
          <p:cNvSpPr>
            <a:spLocks noGrp="1"/>
          </p:cNvSpPr>
          <p:nvPr/>
        </p:nvSpPr>
        <p:spPr>
          <a:xfrm>
            <a:off x="514350" y="2305050"/>
            <a:ext cx="24288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驾驶基线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5C3A70-AAAD-48E3-B8DE-46135F403191}"/>
              </a:ext>
            </a:extLst>
          </p:cNvPr>
          <p:cNvSpPr>
            <a:spLocks noGrp="1"/>
          </p:cNvSpPr>
          <p:nvPr/>
        </p:nvSpPr>
        <p:spPr>
          <a:xfrm>
            <a:off x="3305175" y="1676400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600 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BC473B-51CD-4C3D-BE8F-F777BAF74623}"/>
              </a:ext>
            </a:extLst>
          </p:cNvPr>
          <p:cNvSpPr>
            <a:spLocks noGrp="1"/>
          </p:cNvSpPr>
          <p:nvPr/>
        </p:nvSpPr>
        <p:spPr>
          <a:xfrm>
            <a:off x="3305175" y="2305050"/>
            <a:ext cx="24288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晴雨图像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2E5F15-0CAF-4392-AE4F-EB4F217ED300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2 × 50 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82BC5C-E30F-4BCD-A936-D5E514E52B04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24288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独立微调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9C53D3-F74C-47CF-BE9E-3C01D275EA9C}"/>
              </a:ext>
            </a:extLst>
          </p:cNvPr>
          <p:cNvSpPr>
            <a:spLocks noGrp="1"/>
          </p:cNvSpPr>
          <p:nvPr/>
        </p:nvSpPr>
        <p:spPr>
          <a:xfrm>
            <a:off x="8886825" y="1676400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6 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D45B71-3857-47A0-A4E8-E6D50EBC53CF}"/>
              </a:ext>
            </a:extLst>
          </p:cNvPr>
          <p:cNvSpPr>
            <a:spLocks noGrp="1"/>
          </p:cNvSpPr>
          <p:nvPr/>
        </p:nvSpPr>
        <p:spPr>
          <a:xfrm>
            <a:off x="8886825" y="2305050"/>
            <a:ext cx="24288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统一评估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EEFAEB-4E9F-4DA6-A4C2-45CC3C533067}"/>
              </a:ext>
            </a:extLst>
          </p:cNvPr>
          <p:cNvSpPr>
            <a:spLocks noGrp="1"/>
          </p:cNvSpPr>
          <p:nvPr/>
        </p:nvSpPr>
        <p:spPr>
          <a:xfrm>
            <a:off x="514350" y="2876550"/>
            <a:ext cx="11144250" cy="19050"/>
          </a:xfrm>
          <a:prstGeom prst="rect">
            <a:avLst/>
          </a:prstGeom>
          <a:solidFill>
            <a:srgbClr val="D9E2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9735DC-CB55-44DE-957B-B0E2A28519EF}"/>
              </a:ext>
            </a:extLst>
          </p:cNvPr>
          <p:cNvSpPr>
            <a:spLocks noGrp="1"/>
          </p:cNvSpPr>
          <p:nvPr/>
        </p:nvSpPr>
        <p:spPr>
          <a:xfrm>
            <a:off x="514350" y="32385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F7AB73-EBB3-4CEA-AD38-95439ABFEB31}"/>
              </a:ext>
            </a:extLst>
          </p:cNvPr>
          <p:cNvSpPr>
            <a:spLocks noGrp="1"/>
          </p:cNvSpPr>
          <p:nvPr/>
        </p:nvSpPr>
        <p:spPr>
          <a:xfrm>
            <a:off x="1295400" y="3238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基线与问题定位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6154F9-4A4A-44C4-84E0-91247B2C987F}"/>
              </a:ext>
            </a:extLst>
          </p:cNvPr>
          <p:cNvSpPr>
            <a:spLocks noGrp="1"/>
          </p:cNvSpPr>
          <p:nvPr/>
        </p:nvSpPr>
        <p:spPr>
          <a:xfrm>
            <a:off x="514350" y="3905250"/>
            <a:ext cx="333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开源模型接入CARLA</a:t>
            </a:r>
          </a:p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5种设置 × 2种天气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6072B1-DE5E-4191-80EE-D4D7C605C3C7}"/>
              </a:ext>
            </a:extLst>
          </p:cNvPr>
          <p:cNvSpPr>
            <a:spLocks noGrp="1"/>
          </p:cNvSpPr>
          <p:nvPr/>
        </p:nvSpPr>
        <p:spPr>
          <a:xfrm>
            <a:off x="4324350" y="32385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40315B-5878-4E6C-9999-DC305BBAF6A2}"/>
              </a:ext>
            </a:extLst>
          </p:cNvPr>
          <p:cNvSpPr>
            <a:spLocks noGrp="1"/>
          </p:cNvSpPr>
          <p:nvPr/>
        </p:nvSpPr>
        <p:spPr>
          <a:xfrm>
            <a:off x="5105400" y="3238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数据与真实标签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8C2225-B02D-4A61-841A-BB6FCA0645A3}"/>
              </a:ext>
            </a:extLst>
          </p:cNvPr>
          <p:cNvSpPr>
            <a:spLocks noGrp="1"/>
          </p:cNvSpPr>
          <p:nvPr/>
        </p:nvSpPr>
        <p:spPr>
          <a:xfrm>
            <a:off x="4324350" y="3905250"/>
            <a:ext cx="333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60个布置 × 10个视角</a:t>
            </a:r>
          </a:p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晴雨配对采集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3C665C-F0FF-452C-8E57-22BAD50B4930}"/>
              </a:ext>
            </a:extLst>
          </p:cNvPr>
          <p:cNvSpPr>
            <a:spLocks noGrp="1"/>
          </p:cNvSpPr>
          <p:nvPr/>
        </p:nvSpPr>
        <p:spPr>
          <a:xfrm>
            <a:off x="8134350" y="32385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AF35C2-EEEF-4CC4-B3D3-973EA35402E8}"/>
              </a:ext>
            </a:extLst>
          </p:cNvPr>
          <p:cNvSpPr>
            <a:spLocks noGrp="1"/>
          </p:cNvSpPr>
          <p:nvPr/>
        </p:nvSpPr>
        <p:spPr>
          <a:xfrm>
            <a:off x="8915400" y="3238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微调与统一评价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8B42EA-402A-40F2-AF57-27567B0F6DF2}"/>
              </a:ext>
            </a:extLst>
          </p:cNvPr>
          <p:cNvSpPr>
            <a:spLocks noGrp="1"/>
          </p:cNvSpPr>
          <p:nvPr/>
        </p:nvSpPr>
        <p:spPr>
          <a:xfrm>
            <a:off x="8134350" y="3905250"/>
            <a:ext cx="3333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同一起点各训练50轮</a:t>
            </a:r>
          </a:p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3模型 × 2天气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D39F4E6-1361-441A-8B1C-D15C8B79AB75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144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当前边界：离线检测指标已改善；新模型尚未重新进入驾驶闭环。</a:t>
            </a:r>
          </a:p>
        </p:txBody>
      </p:sp>
    </p:spTree>
    <p:extLst>
      <p:ext uri="{BB962C8B-B14F-4D97-AF65-F5344CB8AC3E}">
        <p14:creationId xmlns:p14="http://schemas.microsoft.com/office/powerpoint/2010/main" val="381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06FAA14-940D-45AE-A66E-F9547AD4351D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阶段一　建立可运行基线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F6E058-7C55-479E-AEFA-962C2A20DCA0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模型来源与驾驶系统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DE64C7-7DC1-4238-B013-41B541EA92BC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SOURCE.md；run_baseline.py；晴天原型逐帧日志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0DB24F-E555-4219-9BD0-862930DA531C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6261AD-9762-4A0A-9C1E-9A28012C3CD2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开源起点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7DC160-F9D4-45AB-9487-A36F7B64C37A}"/>
              </a:ext>
            </a:extLst>
          </p:cNvPr>
          <p:cNvSpPr>
            <a:spLocks noGrp="1"/>
          </p:cNvSpPr>
          <p:nvPr/>
        </p:nvSpPr>
        <p:spPr>
          <a:xfrm>
            <a:off x="514350" y="2200275"/>
            <a:ext cx="1381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GitHub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C6DA21-AD81-424C-B6D7-1F76E7B10234}"/>
              </a:ext>
            </a:extLst>
          </p:cNvPr>
          <p:cNvSpPr>
            <a:spLocks noGrp="1"/>
          </p:cNvSpPr>
          <p:nvPr/>
        </p:nvSpPr>
        <p:spPr>
          <a:xfrm>
            <a:off x="1905000" y="2200275"/>
            <a:ext cx="3381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查看实现、CARLA接口与依赖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0121B3-D916-42D2-BEED-60A08C878A59}"/>
              </a:ext>
            </a:extLst>
          </p:cNvPr>
          <p:cNvSpPr>
            <a:spLocks noGrp="1"/>
          </p:cNvSpPr>
          <p:nvPr/>
        </p:nvSpPr>
        <p:spPr>
          <a:xfrm>
            <a:off x="510652" y="2524125"/>
            <a:ext cx="222885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Hugging Face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0BDCBF-84AB-4E72-8021-A24AB19E75C4}"/>
              </a:ext>
            </a:extLst>
          </p:cNvPr>
          <p:cNvSpPr>
            <a:spLocks noGrp="1"/>
          </p:cNvSpPr>
          <p:nvPr/>
        </p:nvSpPr>
        <p:spPr>
          <a:xfrm>
            <a:off x="2689749" y="2743200"/>
            <a:ext cx="30003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下载</a:t>
            </a:r>
            <a:r>
              <a:rPr sz="1725" b="0" dirty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 yolo_carla_best.pt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05E26D-B950-4DB1-9D85-8B90B96798DE}"/>
              </a:ext>
            </a:extLst>
          </p:cNvPr>
          <p:cNvSpPr>
            <a:spLocks noGrp="1"/>
          </p:cNvSpPr>
          <p:nvPr/>
        </p:nvSpPr>
        <p:spPr>
          <a:xfrm>
            <a:off x="514350" y="3228975"/>
            <a:ext cx="1381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22403E-957A-411A-99D4-7B345C95EF6A}"/>
              </a:ext>
            </a:extLst>
          </p:cNvPr>
          <p:cNvSpPr>
            <a:spLocks noGrp="1"/>
          </p:cNvSpPr>
          <p:nvPr/>
        </p:nvSpPr>
        <p:spPr>
          <a:xfrm>
            <a:off x="1905000" y="3228975"/>
            <a:ext cx="33813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道路目标权重、nano模型、本机可运行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1DA282-FB61-4FB8-8F1A-626F61491E5E}"/>
              </a:ext>
            </a:extLst>
          </p:cNvPr>
          <p:cNvSpPr>
            <a:spLocks noGrp="1"/>
          </p:cNvSpPr>
          <p:nvPr/>
        </p:nvSpPr>
        <p:spPr>
          <a:xfrm>
            <a:off x="514350" y="4276725"/>
            <a:ext cx="51435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RGB相机　→　YOLO11n检测　→　风险规则　→　油门与刹车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CB2B44-91DA-44E2-B38B-43619A1D16AF}"/>
              </a:ext>
            </a:extLst>
          </p:cNvPr>
          <p:cNvSpPr>
            <a:spLocks noGrp="1"/>
          </p:cNvSpPr>
          <p:nvPr/>
        </p:nvSpPr>
        <p:spPr>
          <a:xfrm>
            <a:off x="514350" y="5067300"/>
            <a:ext cx="5143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转向使用地图路点；当前尚未训练控制网络。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BC1E0C4-598D-4D4F-99D5-8C205074D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08222" y="1752600"/>
            <a:ext cx="4633407" cy="31623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A4684A5-A9C2-4C02-9EF1-4E2F6D4BA104}"/>
              </a:ext>
            </a:extLst>
          </p:cNvPr>
          <p:cNvSpPr>
            <a:spLocks noGrp="1"/>
          </p:cNvSpPr>
          <p:nvPr/>
        </p:nvSpPr>
        <p:spPr>
          <a:xfrm>
            <a:off x="6191250" y="5057775"/>
            <a:ext cx="54673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5.00秒制动　　5.60秒停车　　10.10秒恢复　　22.90秒到达</a:t>
            </a:r>
          </a:p>
        </p:txBody>
      </p:sp>
    </p:spTree>
    <p:extLst>
      <p:ext uri="{BB962C8B-B14F-4D97-AF65-F5344CB8AC3E}">
        <p14:creationId xmlns:p14="http://schemas.microsoft.com/office/powerpoint/2010/main" val="200972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D360D91-6856-49A9-BEDE-629E3EA50B4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阶段一　固定道路，改变横穿条件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8F594D-A842-4BC2-B478-747A3D299E6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晴雨驾驶基线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FF684A-E49F-4989-86BE-15652BA591EE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all_10_runs.csv；scenario_design.json；S04复测记录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E4EAC9-82D8-465A-A457-12E8CD958A01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1CCE0B5-87F9-4276-9C3A-1434FF14E25A}"/>
              </a:ext>
            </a:extLst>
          </p:cNvPr>
          <p:cNvGraphicFramePr/>
          <p:nvPr/>
        </p:nvGraphicFramePr>
        <p:xfrm>
          <a:off x="514350" y="1714500"/>
          <a:ext cx="11144250" cy="3333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行人条件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 m/s，22 m触发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S02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减速至0.7 m/s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S03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加速至1.4 m/s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S04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触发距离缩短至12 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碰撞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S05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反方向横穿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1FE207D-4F2B-4076-80A2-D9026119FE06}"/>
              </a:ext>
            </a:extLst>
          </p:cNvPr>
          <p:cNvSpPr>
            <a:spLocks noGrp="1"/>
          </p:cNvSpPr>
          <p:nvPr/>
        </p:nvSpPr>
        <p:spPr>
          <a:xfrm>
            <a:off x="514350" y="53340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晴天 5/5 无碰撞到达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6F9799-5BC8-4F4A-A565-FBD86ACF8137}"/>
              </a:ext>
            </a:extLst>
          </p:cNvPr>
          <p:cNvSpPr>
            <a:spLocks noGrp="1"/>
          </p:cNvSpPr>
          <p:nvPr/>
        </p:nvSpPr>
        <p:spPr>
          <a:xfrm>
            <a:off x="6229350" y="53340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雨天 4/5 无碰撞到达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3BB8F1-E306-4089-8A28-F40022A8F5FF}"/>
              </a:ext>
            </a:extLst>
          </p:cNvPr>
          <p:cNvSpPr>
            <a:spLocks noGrp="1"/>
          </p:cNvSpPr>
          <p:nvPr/>
        </p:nvSpPr>
        <p:spPr>
          <a:xfrm>
            <a:off x="514350" y="5867400"/>
            <a:ext cx="111442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“到达”不等于“完全停车”；S05晴天无碰撞到达，但未达到停车阈值。</a:t>
            </a:r>
          </a:p>
        </p:txBody>
      </p:sp>
    </p:spTree>
    <p:extLst>
      <p:ext uri="{BB962C8B-B14F-4D97-AF65-F5344CB8AC3E}">
        <p14:creationId xmlns:p14="http://schemas.microsoft.com/office/powerpoint/2010/main" val="147509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C779175-FFE9-4C7E-A1D2-71E39CE6B40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阶段一　从视频回查逐帧日志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A3A63E-3692-4880-AC35-E2B475057BBA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雨天碰撞分析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274ABD-54DC-4107-9399-023F52A2B2CD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S04失败控制与检测CSV；S04_detected_but_brake_released.jpg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B4F348-FB46-4636-8096-DF9B0B770B89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F0D54A-2BBE-4F3D-92DF-80C797912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3497" y="1695450"/>
            <a:ext cx="5093956" cy="34766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CCB3D49-DD4B-4B56-B0E7-B6A2BD3BC16D}"/>
              </a:ext>
            </a:extLst>
          </p:cNvPr>
          <p:cNvSpPr>
            <a:spLocks noGrp="1"/>
          </p:cNvSpPr>
          <p:nvPr/>
        </p:nvSpPr>
        <p:spPr>
          <a:xfrm>
            <a:off x="7524750" y="1762125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松刹时仍有行人检测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75800B-1B00-42CE-8D3F-8C0F17C4F0CF}"/>
              </a:ext>
            </a:extLst>
          </p:cNvPr>
          <p:cNvSpPr>
            <a:spLocks noGrp="1"/>
          </p:cNvSpPr>
          <p:nvPr/>
        </p:nvSpPr>
        <p:spPr>
          <a:xfrm>
            <a:off x="7524750" y="2314575"/>
            <a:ext cx="409575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置信度 0.84</a:t>
            </a:r>
          </a:p>
          <a:p>
            <a: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横向估计 −1.916 m</a:t>
            </a:r>
          </a:p>
          <a:p>
            <a:pPr algn="l">
              <a:def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危险筛选边界 ±1.9 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874A57-B2C5-45EE-AEDD-93674263E3E8}"/>
              </a:ext>
            </a:extLst>
          </p:cNvPr>
          <p:cNvSpPr>
            <a:spLocks noGrp="1"/>
          </p:cNvSpPr>
          <p:nvPr/>
        </p:nvSpPr>
        <p:spPr>
          <a:xfrm>
            <a:off x="7524750" y="3905250"/>
            <a:ext cx="40957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5组配对：雨天首次刹车</a:t>
            </a:r>
          </a:p>
          <a:p>
            <a: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平均晚 0.33 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273924-B43E-4910-BA5C-C0235FF0B3F8}"/>
              </a:ext>
            </a:extLst>
          </p:cNvPr>
          <p:cNvSpPr>
            <a:spLocks noGrp="1"/>
          </p:cNvSpPr>
          <p:nvPr/>
        </p:nvSpPr>
        <p:spPr>
          <a:xfrm>
            <a:off x="2286000" y="5410200"/>
            <a:ext cx="7524750" cy="28575"/>
          </a:xfrm>
          <a:prstGeom prst="rect">
            <a:avLst/>
          </a:prstGeom>
          <a:solidFill>
            <a:srgbClr val="8A99A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02BFB1E-87DC-4711-AC41-0C1C640BDA77}"/>
              </a:ext>
            </a:extLst>
          </p:cNvPr>
          <p:cNvSpPr>
            <a:spLocks noGrp="1"/>
          </p:cNvSpPr>
          <p:nvPr/>
        </p:nvSpPr>
        <p:spPr>
          <a:xfrm>
            <a:off x="2219325" y="5353050"/>
            <a:ext cx="133350" cy="133350"/>
          </a:xfrm>
          <a:prstGeom prst="ellipse">
            <a:avLst/>
          </a:prstGeom>
          <a:solidFill>
            <a:srgbClr val="007E8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196A07-E112-427E-8E59-5B28F05AD67C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7.85秒：开始刹车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918B217-C97E-4AC2-A0FF-731D87D09695}"/>
              </a:ext>
            </a:extLst>
          </p:cNvPr>
          <p:cNvSpPr>
            <a:spLocks noGrp="1"/>
          </p:cNvSpPr>
          <p:nvPr/>
        </p:nvSpPr>
        <p:spPr>
          <a:xfrm>
            <a:off x="5981700" y="5353050"/>
            <a:ext cx="133350" cy="133350"/>
          </a:xfrm>
          <a:prstGeom prst="ellipse">
            <a:avLst/>
          </a:prstGeom>
          <a:solidFill>
            <a:srgbClr val="007E8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98ED2F-DDD4-42BD-800F-5FFCA31BB05C}"/>
              </a:ext>
            </a:extLst>
          </p:cNvPr>
          <p:cNvSpPr>
            <a:spLocks noGrp="1"/>
          </p:cNvSpPr>
          <p:nvPr/>
        </p:nvSpPr>
        <p:spPr>
          <a:xfrm>
            <a:off x="4276725" y="56197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8.05秒：提前松刹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F49E6AE-39E8-40F0-98BD-5A0B0C1E8361}"/>
              </a:ext>
            </a:extLst>
          </p:cNvPr>
          <p:cNvSpPr>
            <a:spLocks noGrp="1"/>
          </p:cNvSpPr>
          <p:nvPr/>
        </p:nvSpPr>
        <p:spPr>
          <a:xfrm>
            <a:off x="9744075" y="5353050"/>
            <a:ext cx="133350" cy="133350"/>
          </a:xfrm>
          <a:prstGeom prst="ellipse">
            <a:avLst/>
          </a:prstGeom>
          <a:solidFill>
            <a:srgbClr val="A9541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09AD54-A75F-4E40-AD02-EEC0BF44F56D}"/>
              </a:ext>
            </a:extLst>
          </p:cNvPr>
          <p:cNvSpPr>
            <a:spLocks noGrp="1"/>
          </p:cNvSpPr>
          <p:nvPr/>
        </p:nvSpPr>
        <p:spPr>
          <a:xfrm>
            <a:off x="8039100" y="56197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8.95秒：碰撞终止</a:t>
            </a:r>
          </a:p>
        </p:txBody>
      </p:sp>
    </p:spTree>
    <p:extLst>
      <p:ext uri="{BB962C8B-B14F-4D97-AF65-F5344CB8AC3E}">
        <p14:creationId xmlns:p14="http://schemas.microsoft.com/office/powerpoint/2010/main" val="23332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9EA9B00-38E9-4A5E-8006-9AFD97B681B9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阶段二　可控采集与自动标注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26F247-BE76-4728-91DA-8F6BD70F24F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晴雨配对数据与真实标签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A2312F-F95F-48C2-BE33-796046E4BF8B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collect_weather_training.py；design.json；manifest.json；实例编码图与YOLO标签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6F3B42-CFA3-46A4-9D79-AFC1A9C50C23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2A27E9-F800-4CCB-8360-ABEB38812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0183" y="1619250"/>
            <a:ext cx="3217333" cy="18097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0317397-A64E-4C81-842F-A9E13638F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39683" y="1619250"/>
            <a:ext cx="3217333" cy="18097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9964A1-51F0-4539-ADE1-8A434E548F66}"/>
              </a:ext>
            </a:extLst>
          </p:cNvPr>
          <p:cNvSpPr>
            <a:spLocks noGrp="1"/>
          </p:cNvSpPr>
          <p:nvPr/>
        </p:nvSpPr>
        <p:spPr>
          <a:xfrm>
            <a:off x="514350" y="34861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晴天 ClearNoon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C37D47-E7C6-42A7-8D91-687061428F6B}"/>
              </a:ext>
            </a:extLst>
          </p:cNvPr>
          <p:cNvSpPr>
            <a:spLocks noGrp="1"/>
          </p:cNvSpPr>
          <p:nvPr/>
        </p:nvSpPr>
        <p:spPr>
          <a:xfrm>
            <a:off x="4133850" y="34861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雨天 HardRainNoon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DE99A3-51DA-42B8-A098-E0ECE40FCE2C}"/>
              </a:ext>
            </a:extLst>
          </p:cNvPr>
          <p:cNvSpPr>
            <a:spLocks noGrp="1"/>
          </p:cNvSpPr>
          <p:nvPr/>
        </p:nvSpPr>
        <p:spPr>
          <a:xfrm>
            <a:off x="7848600" y="1952625"/>
            <a:ext cx="37147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60个布置 × 10个视角 × 2种天气 = 1,200张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62778A-C340-4131-86AC-A86F06B8DE57}"/>
              </a:ext>
            </a:extLst>
          </p:cNvPr>
          <p:cNvSpPr>
            <a:spLocks noGrp="1"/>
          </p:cNvSpPr>
          <p:nvPr/>
        </p:nvSpPr>
        <p:spPr>
          <a:xfrm>
            <a:off x="7848600" y="286702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600对图像保持相同相机位置和物体布置。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903072F-4A97-4833-B347-9625A1EAB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24933" y="4114800"/>
            <a:ext cx="2455333" cy="13811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699B2FB-8BA1-4A0D-8F82-317FB1E3E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191933" y="4114800"/>
            <a:ext cx="2455333" cy="13811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C620FC9-BDCF-4033-8819-CD08EFA4DE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858933" y="4114800"/>
            <a:ext cx="2455333" cy="138112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72439E5-5CBD-4193-A133-A0C95B4566E2}"/>
              </a:ext>
            </a:extLst>
          </p:cNvPr>
          <p:cNvSpPr>
            <a:spLocks noGrp="1"/>
          </p:cNvSpPr>
          <p:nvPr/>
        </p:nvSpPr>
        <p:spPr>
          <a:xfrm>
            <a:off x="514350" y="55435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RGB图像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E093B7-C59E-410F-9CE4-D4C35F127BBE}"/>
              </a:ext>
            </a:extLst>
          </p:cNvPr>
          <p:cNvSpPr>
            <a:spLocks noGrp="1"/>
          </p:cNvSpPr>
          <p:nvPr/>
        </p:nvSpPr>
        <p:spPr>
          <a:xfrm>
            <a:off x="3181350" y="55435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同帧实例编码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4EE303-8A90-480C-A9EF-95FC6625BA05}"/>
              </a:ext>
            </a:extLst>
          </p:cNvPr>
          <p:cNvSpPr>
            <a:spLocks noGrp="1"/>
          </p:cNvSpPr>
          <p:nvPr/>
        </p:nvSpPr>
        <p:spPr>
          <a:xfrm>
            <a:off x="5848350" y="55435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生成YOLO标签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D6260C-FBC2-4C72-BACE-8B27145F9E3F}"/>
              </a:ext>
            </a:extLst>
          </p:cNvPr>
          <p:cNvSpPr>
            <a:spLocks noGrp="1"/>
          </p:cNvSpPr>
          <p:nvPr/>
        </p:nvSpPr>
        <p:spPr>
          <a:xfrm>
            <a:off x="8667750" y="4314825"/>
            <a:ext cx="2952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标签示例：1  0.5275  0.5611  0.0275  0.1311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09A445-34B1-49A6-A9AA-AAD29EF68373}"/>
              </a:ext>
            </a:extLst>
          </p:cNvPr>
          <p:cNvSpPr>
            <a:spLocks noGrp="1"/>
          </p:cNvSpPr>
          <p:nvPr/>
        </p:nvSpPr>
        <p:spPr>
          <a:xfrm>
            <a:off x="8667750" y="5048250"/>
            <a:ext cx="2952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类别、中心x、中心y、宽、高</a:t>
            </a:r>
          </a:p>
          <a:p>
            <a: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坐标归一化至0～1</a:t>
            </a:r>
          </a:p>
        </p:txBody>
      </p:sp>
    </p:spTree>
    <p:extLst>
      <p:ext uri="{BB962C8B-B14F-4D97-AF65-F5344CB8AC3E}">
        <p14:creationId xmlns:p14="http://schemas.microsoft.com/office/powerpoint/2010/main" val="52627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3D4B642-26C1-4748-B056-2C15A76F2EB2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阶段二　检查后再进入训练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160A8A-0656-426F-9981-B389120527A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数据划分与质量检查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33EDF1-3D93-4280-9D13-CA5766A735DC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DATASET_CARD.md；audit.json；design.json；排除批次记录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7B25F1-EEE6-41DD-8006-6E98C6BA7E9E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0485F20-5181-4E6B-B70B-94F6BCBD5CAB}"/>
              </a:ext>
            </a:extLst>
          </p:cNvPr>
          <p:cNvGraphicFramePr/>
          <p:nvPr/>
        </p:nvGraphicFramePr>
        <p:xfrm>
          <a:off x="514350" y="1714500"/>
          <a:ext cx="11144250" cy="22860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划分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每种天气图像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两种天气合计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更新模型参数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选择最佳权重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训练后统一比较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33C38BF-5315-41C9-94E0-A9F31F9D4A28}"/>
              </a:ext>
            </a:extLst>
          </p:cNvPr>
          <p:cNvSpPr>
            <a:spLocks noGrp="1"/>
          </p:cNvSpPr>
          <p:nvPr/>
        </p:nvSpPr>
        <p:spPr>
          <a:xfrm>
            <a:off x="514350" y="437197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2,139 个车辆框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08EB0C-BEC7-4E85-9C37-F1F17502A17E}"/>
              </a:ext>
            </a:extLst>
          </p:cNvPr>
          <p:cNvSpPr>
            <a:spLocks noGrp="1"/>
          </p:cNvSpPr>
          <p:nvPr/>
        </p:nvSpPr>
        <p:spPr>
          <a:xfrm>
            <a:off x="4133850" y="437197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5,279 个行人框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782A5A-0A32-474A-B09E-FFFAA855A62D}"/>
              </a:ext>
            </a:extLst>
          </p:cNvPr>
          <p:cNvSpPr>
            <a:spLocks noGrp="1"/>
          </p:cNvSpPr>
          <p:nvPr/>
        </p:nvSpPr>
        <p:spPr>
          <a:xfrm>
            <a:off x="7848600" y="4371975"/>
            <a:ext cx="3714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11 / 3 / 3 条道路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94ED17-ACA8-4162-BB64-6E077935779D}"/>
              </a:ext>
            </a:extLst>
          </p:cNvPr>
          <p:cNvSpPr>
            <a:spLocks noGrp="1"/>
          </p:cNvSpPr>
          <p:nvPr/>
        </p:nvSpPr>
        <p:spPr>
          <a:xfrm>
            <a:off x="7848600" y="490537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训练、验证、测试按道路隔离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84E059-A29A-4A64-BEDA-08DB7472D964}"/>
              </a:ext>
            </a:extLst>
          </p:cNvPr>
          <p:cNvSpPr>
            <a:spLocks noGrp="1"/>
          </p:cNvSpPr>
          <p:nvPr/>
        </p:nvSpPr>
        <p:spPr>
          <a:xfrm>
            <a:off x="514350" y="5381625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已修正：行人生成在地面以下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A64892-9ED6-432E-BF4B-E01A1F3A977B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处理：提高生成位置，12张探针确认，排除两批错误数据。</a:t>
            </a:r>
          </a:p>
        </p:txBody>
      </p:sp>
    </p:spTree>
    <p:extLst>
      <p:ext uri="{BB962C8B-B14F-4D97-AF65-F5344CB8AC3E}">
        <p14:creationId xmlns:p14="http://schemas.microsoft.com/office/powerpoint/2010/main" val="83252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8864DF7-03ED-4025-9B64-BCF4AF80C36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阶段三　同一起点，改变训练天气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8D88FE-5D23-481B-AB3A-1EFB193D462F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两次独立微调设计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363F42-AF91-4215-B7FD-B694041D6025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train_weather_models.py；clear.yaml；rain.yaml；两份args.yaml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252623-DA01-4485-8F61-E799BC4E08C5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374FBC-6454-441C-A5DA-353CB4070E24}"/>
              </a:ext>
            </a:extLst>
          </p:cNvPr>
          <p:cNvSpPr>
            <a:spLocks noGrp="1"/>
          </p:cNvSpPr>
          <p:nvPr/>
        </p:nvSpPr>
        <p:spPr>
          <a:xfrm>
            <a:off x="4095750" y="16573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原始 YOLO11n 权重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1897CD-AFF1-43C6-AEEC-7EF6F8D761C2}"/>
              </a:ext>
            </a:extLst>
          </p:cNvPr>
          <p:cNvSpPr>
            <a:spLocks noGrp="1"/>
          </p:cNvSpPr>
          <p:nvPr/>
        </p:nvSpPr>
        <p:spPr>
          <a:xfrm>
            <a:off x="6096000" y="2190750"/>
            <a:ext cx="19050" cy="1428750"/>
          </a:xfrm>
          <a:prstGeom prst="rect">
            <a:avLst/>
          </a:prstGeom>
          <a:solidFill>
            <a:srgbClr val="D9E2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8BCD0B-A984-40D6-BFF5-027F1D79066E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晴天微调模型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F763ED-2DE8-4E77-AE9D-F34CDE34F304}"/>
              </a:ext>
            </a:extLst>
          </p:cNvPr>
          <p:cNvSpPr>
            <a:spLocks noGrp="1"/>
          </p:cNvSpPr>
          <p:nvPr/>
        </p:nvSpPr>
        <p:spPr>
          <a:xfrm>
            <a:off x="7048500" y="24765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雨天微调模型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20DB86-13A6-4925-9A94-03EB6C098E35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40957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380张晴天训练图</a:t>
            </a:r>
          </a:p>
          <a:p>
            <a: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50轮独立训练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8A6B55-0A16-4D71-896C-6ED0E538765F}"/>
              </a:ext>
            </a:extLst>
          </p:cNvPr>
          <p:cNvSpPr>
            <a:spLocks noGrp="1"/>
          </p:cNvSpPr>
          <p:nvPr/>
        </p:nvSpPr>
        <p:spPr>
          <a:xfrm>
            <a:off x="7048500" y="3105150"/>
            <a:ext cx="40957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380张雨天训练图</a:t>
            </a:r>
          </a:p>
          <a:p>
            <a:pPr algn="ctr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50轮独立训练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88A4880-A977-46A6-970B-CD83E4B4A398}"/>
              </a:ext>
            </a:extLst>
          </p:cNvPr>
          <p:cNvGraphicFramePr/>
          <p:nvPr/>
        </p:nvGraphicFramePr>
        <p:xfrm>
          <a:off x="2667000" y="4238625"/>
          <a:ext cx="6858000" cy="147637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66675" marR="66675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两组共同值</a:t>
                      </a:r>
                    </a:p>
                  </a:txBody>
                  <a:tcPr marL="66675" marR="66675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输入与批次</a:t>
                      </a:r>
                    </a:p>
                  </a:txBody>
                  <a:tcPr marL="66675" marR="66675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640，batch 8</a:t>
                      </a:r>
                    </a:p>
                  </a:txBody>
                  <a:tcPr marL="66675" marR="66675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优化器与学习率</a:t>
                      </a:r>
                    </a:p>
                  </a:txBody>
                  <a:tcPr marL="66675" marR="66675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AdamW，0.0005</a:t>
                      </a:r>
                    </a:p>
                  </a:txBody>
                  <a:tcPr marL="66675" marR="66675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随机性</a:t>
                      </a:r>
                    </a:p>
                  </a:txBody>
                  <a:tcPr marL="66675" marR="66675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 18，确定性训练</a:t>
                      </a:r>
                    </a:p>
                  </a:txBody>
                  <a:tcPr marL="66675" marR="66675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66675" marR="66675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车辆、行人</a:t>
                      </a:r>
                    </a:p>
                  </a:txBody>
                  <a:tcPr marL="66675" marR="66675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53C67626-701D-4100-B50B-6F8044988C4E}"/>
              </a:ext>
            </a:extLst>
          </p:cNvPr>
          <p:cNvSpPr>
            <a:spLocks noGrp="1"/>
          </p:cNvSpPr>
          <p:nvPr/>
        </p:nvSpPr>
        <p:spPr>
          <a:xfrm>
            <a:off x="514350" y="6010275"/>
            <a:ext cx="11144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50轮表示参数实际更新；两组均使用相同常规增强，尚未完成“有无天气增强”对照。</a:t>
            </a:r>
          </a:p>
        </p:txBody>
      </p:sp>
    </p:spTree>
    <p:extLst>
      <p:ext uri="{BB962C8B-B14F-4D97-AF65-F5344CB8AC3E}">
        <p14:creationId xmlns:p14="http://schemas.microsoft.com/office/powerpoint/2010/main" val="1772842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2B149C3-AE01-42DA-BFDD-8E8211564A0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阶段三　曲线、记录与新权重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6554D1-499E-4EBA-B6A0-5DB4C22DD54D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训练过程证据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852681-C858-4383-924A-0FC25A2DF295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clear_50epochs.csv；rain_50epochs.csv；final_verification.json；两份best.pt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A64482-2378-47DE-BEA2-5D6F3F919B5C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A4C8CB-B185-42C0-B99B-72780FFC1770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5381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训练集定位损失（越低越好）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D4EEB265-E2CD-4B38-A7E2-8A543479984F}"/>
              </a:ext>
            </a:extLst>
          </p:cNvPr>
          <p:cNvGraphicFramePr/>
          <p:nvPr/>
        </p:nvGraphicFramePr>
        <p:xfrm>
          <a:off x="514350" y="2047875"/>
          <a:ext cx="5381625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72267CE7-AF0E-46A9-8E87-614088EA5773}"/>
              </a:ext>
            </a:extLst>
          </p:cNvPr>
          <p:cNvSpPr>
            <a:spLocks noGrp="1"/>
          </p:cNvSpPr>
          <p:nvPr/>
        </p:nvSpPr>
        <p:spPr>
          <a:xfrm>
            <a:off x="6229350" y="1619250"/>
            <a:ext cx="5381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对应天气验证集 mAP50–95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9BA7A9C7-F951-4982-8C2A-77A927224EB9}"/>
              </a:ext>
            </a:extLst>
          </p:cNvPr>
          <p:cNvGraphicFramePr/>
          <p:nvPr/>
        </p:nvGraphicFramePr>
        <p:xfrm>
          <a:off x="6229350" y="2047875"/>
          <a:ext cx="5381625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77CFB59-92C5-4F06-AACF-7675A0D44E6E}"/>
              </a:ext>
            </a:extLst>
          </p:cNvPr>
          <p:cNvSpPr>
            <a:spLocks noGrp="1"/>
          </p:cNvSpPr>
          <p:nvPr/>
        </p:nvSpPr>
        <p:spPr>
          <a:xfrm>
            <a:off x="514350" y="521970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晴天：10.57分钟，最佳第50轮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CEA21C-6D93-4073-9D21-82619DFB5711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雨天：11.00分钟，最佳第47轮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1C476C-6774-414F-84F5-66E3E9500F96}"/>
              </a:ext>
            </a:extLst>
          </p:cNvPr>
          <p:cNvSpPr>
            <a:spLocks noGrp="1"/>
          </p:cNvSpPr>
          <p:nvPr/>
        </p:nvSpPr>
        <p:spPr>
          <a:xfrm>
            <a:off x="514350" y="5829300"/>
            <a:ext cx="11144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仅一个随机种子；曲线证明本轮训练发生，不等于已证明真实道路泛化。</a:t>
            </a:r>
          </a:p>
        </p:txBody>
      </p:sp>
    </p:spTree>
    <p:extLst>
      <p:ext uri="{BB962C8B-B14F-4D97-AF65-F5344CB8AC3E}">
        <p14:creationId xmlns:p14="http://schemas.microsoft.com/office/powerpoint/2010/main" val="45310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3B05C6A-F11E-42C2-AA08-E18FF0A7AEE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阶段三　3个模型 × 2种测试天气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CBBAD3-E974-4649-843A-3ED802A4FF3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主要检测结果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1D46DA-FDED-4410-8137-6A0BEF04849B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experiment.json；每种天气100张测试图；测试集未参与训练和权重选择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28DFF1-866E-426C-B4D3-883C1C651C3D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63008478-D32D-4F57-ADC1-E16E66034C5A}"/>
              </a:ext>
            </a:extLst>
          </p:cNvPr>
          <p:cNvGraphicFramePr/>
          <p:nvPr/>
        </p:nvGraphicFramePr>
        <p:xfrm>
          <a:off x="514350" y="1657350"/>
          <a:ext cx="111442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6B5243C7-C448-468B-A92C-F8F2FC9FF8CC}"/>
              </a:ext>
            </a:extLst>
          </p:cNvPr>
          <p:cNvSpPr>
            <a:spLocks noGrp="1"/>
          </p:cNvSpPr>
          <p:nvPr/>
        </p:nvSpPr>
        <p:spPr>
          <a:xfrm>
            <a:off x="514350" y="53911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晴天 +14.6 个百分点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A53524-4B82-4B7F-A8F6-89F9B26BD942}"/>
              </a:ext>
            </a:extLst>
          </p:cNvPr>
          <p:cNvSpPr>
            <a:spLocks noGrp="1"/>
          </p:cNvSpPr>
          <p:nvPr/>
        </p:nvSpPr>
        <p:spPr>
          <a:xfrm>
            <a:off x="6229350" y="5391150"/>
            <a:ext cx="5238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雨天 +23.5 个百分点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C36F0D-15FD-4AA2-90C8-6C5248970CA4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111442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结论范围：本次CARLA留出测试图；尚未证明真实道路或闭环驾驶安全改善。</a:t>
            </a:r>
          </a:p>
        </p:txBody>
      </p:sp>
    </p:spTree>
    <p:extLst>
      <p:ext uri="{BB962C8B-B14F-4D97-AF65-F5344CB8AC3E}">
        <p14:creationId xmlns:p14="http://schemas.microsoft.com/office/powerpoint/2010/main" val="1684410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A54591E-1704-41F5-A8B5-326371577A18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结果解释　改善可见，行人仍较弱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94FE08-C03E-43C3-8CB1-930C5129CA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可视化与类别差异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E61027-B893-4D26-B8D6-A656F3467432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fixed_example_predictions.jpg；experiment.json雨天per_class；固定测试集首个样本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28F7D1-8957-47E5-85F2-80D404A10772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360585A-0B4D-48CE-B665-71D536AAF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8013" y="1704975"/>
            <a:ext cx="3516923" cy="1981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EFB77A-6C79-4003-AE16-1117F13DD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32763" y="1704975"/>
            <a:ext cx="3516923" cy="1981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91A7B6F-99BD-488C-A614-BB4655412C43}"/>
              </a:ext>
            </a:extLst>
          </p:cNvPr>
          <p:cNvSpPr>
            <a:spLocks noGrp="1"/>
          </p:cNvSpPr>
          <p:nvPr/>
        </p:nvSpPr>
        <p:spPr>
          <a:xfrm>
            <a:off x="514350" y="3762375"/>
            <a:ext cx="3524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原始模型：无显示框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925512-B97A-428B-9D79-D91C772728E4}"/>
              </a:ext>
            </a:extLst>
          </p:cNvPr>
          <p:cNvSpPr>
            <a:spLocks noGrp="1"/>
          </p:cNvSpPr>
          <p:nvPr/>
        </p:nvSpPr>
        <p:spPr>
          <a:xfrm>
            <a:off x="4229100" y="3762375"/>
            <a:ext cx="3524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雨天微调：检出更多目标</a:t>
            </a:r>
          </a:p>
        </p:txBody>
      </p:sp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B5147FF4-5367-40F2-A15A-4A8BDA16D284}"/>
              </a:ext>
            </a:extLst>
          </p:cNvPr>
          <p:cNvGraphicFramePr/>
          <p:nvPr/>
        </p:nvGraphicFramePr>
        <p:xfrm>
          <a:off x="7953375" y="1685925"/>
          <a:ext cx="3705225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7BA4CCC-DDF7-4C7E-A66A-818F1EEBF9F8}"/>
              </a:ext>
            </a:extLst>
          </p:cNvPr>
          <p:cNvSpPr>
            <a:spLocks noGrp="1"/>
          </p:cNvSpPr>
          <p:nvPr/>
        </p:nvSpPr>
        <p:spPr>
          <a:xfrm>
            <a:off x="514350" y="4371975"/>
            <a:ext cx="7239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同一图片、输入640、显示阈值0.35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E9F7F2-FF6C-4770-B41F-8591F5C0B552}"/>
              </a:ext>
            </a:extLst>
          </p:cNvPr>
          <p:cNvSpPr>
            <a:spLocks noGrp="1"/>
          </p:cNvSpPr>
          <p:nvPr/>
        </p:nvSpPr>
        <p:spPr>
          <a:xfrm>
            <a:off x="514350" y="4991100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车辆：19.6% → 49.8%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DECFB0-562A-4A30-B4FB-8E42FD194A61}"/>
              </a:ext>
            </a:extLst>
          </p:cNvPr>
          <p:cNvSpPr>
            <a:spLocks noGrp="1"/>
          </p:cNvSpPr>
          <p:nvPr/>
        </p:nvSpPr>
        <p:spPr>
          <a:xfrm>
            <a:off x="4229100" y="4991100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行人：12.2% → 29.0%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E668CE-6A9A-4463-B2C8-E656032DCF4B}"/>
              </a:ext>
            </a:extLst>
          </p:cNvPr>
          <p:cNvSpPr>
            <a:spLocks noGrp="1"/>
          </p:cNvSpPr>
          <p:nvPr/>
        </p:nvSpPr>
        <p:spPr>
          <a:xfrm>
            <a:off x="514350" y="5610225"/>
            <a:ext cx="7239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单张图片用于解释变化；100张雨天测试图用于整体评价。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58BC50-6101-4F38-AB36-FE8A58ED1F70}"/>
              </a:ext>
            </a:extLst>
          </p:cNvPr>
          <p:cNvSpPr>
            <a:spLocks noGrp="1"/>
          </p:cNvSpPr>
          <p:nvPr/>
        </p:nvSpPr>
        <p:spPr>
          <a:xfrm>
            <a:off x="7953375" y="5038725"/>
            <a:ext cx="37052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行人较弱的原因尚未分组验证。</a:t>
            </a:r>
          </a:p>
        </p:txBody>
      </p:sp>
    </p:spTree>
    <p:extLst>
      <p:ext uri="{BB962C8B-B14F-4D97-AF65-F5344CB8AC3E}">
        <p14:creationId xmlns:p14="http://schemas.microsoft.com/office/powerpoint/2010/main" val="1383257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8790D69-049A-4014-BF07-90B769AC8DA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小组安排　姓名待填写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EDF80A-2AB7-4AB0-90F5-B0D4E4385D5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Proposal成员分工与贡献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29ADA6-3628-411C-A55B-0628FDFCDF2D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Proposal阶段分工建议；成员姓名待小组填写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A71802-2221-4E7D-8F8D-5649746A4D8E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D150262-D984-4B65-A838-1B092ED656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9954930"/>
              </p:ext>
            </p:extLst>
          </p:nvPr>
        </p:nvGraphicFramePr>
        <p:xfrm>
          <a:off x="152400" y="1695450"/>
          <a:ext cx="11506200" cy="3648078"/>
        </p:xfrm>
        <a:graphic>
          <a:graphicData uri="http://schemas.openxmlformats.org/drawingml/2006/table">
            <a:tbl>
              <a:tblPr/>
              <a:tblGrid>
                <a:gridCol w="1671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4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01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76200" marR="76200" marT="47625" marB="47625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Proposal阶段负责模块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lang="zh-CN" altLang="en-US" sz="1500" b="0" dirty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李道博</a:t>
                      </a:r>
                      <a:endParaRPr sz="1500" b="0" dirty="0">
                        <a:solidFill>
                          <a:srgbClr val="152C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主导整体框架与RQ1–RQ3；实验路线、先导原型与训练；Proposal/PPT整合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A9541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lang="zh-CN" altLang="en-US" sz="1500" b="0" dirty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王佳乐</a:t>
                      </a:r>
                      <a:endParaRPr sz="1500" b="0" dirty="0">
                        <a:solidFill>
                          <a:srgbClr val="152C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恶劣天气目标检测、YOLO与CARLA相关工作及参考文献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E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lang="zh-CN" altLang="en-US" sz="1500" b="0" dirty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高顺</a:t>
                      </a:r>
                      <a:endParaRPr sz="1500" b="0" dirty="0">
                        <a:solidFill>
                          <a:srgbClr val="152C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公开/仿真数据方案；天气条件、数据增强与标注格式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E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lang="zh-CN" altLang="en-US" sz="1500" b="0" dirty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李润泽</a:t>
                      </a:r>
                      <a:endParaRPr sz="1500" b="0" dirty="0">
                        <a:solidFill>
                          <a:srgbClr val="152C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Precision、Recall、mAP及驾驶安全指标；对照实验设计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E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r>
                        <a:rPr lang="zh-CN" altLang="en-US" sz="1500" b="0" dirty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李晨远</a:t>
                      </a:r>
                      <a:endParaRPr sz="1500" b="0" dirty="0">
                        <a:solidFill>
                          <a:srgbClr val="152C42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6200" marR="76200" marT="47625" marB="47625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时间表、资源、风险与限制；引用、格式和语言检查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007E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</a:t>
                      </a:r>
                    </a:p>
                  </a:txBody>
                  <a:tcPr marL="76200" marR="76200" marT="47625" marB="47625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A4D84772-D5D1-472F-B166-0CE9008D1866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仅针对本次Proposal阶段，合计100%；执行阶段贡献将在后续汇报中更新。</a:t>
            </a:r>
          </a:p>
        </p:txBody>
      </p:sp>
    </p:spTree>
    <p:extLst>
      <p:ext uri="{BB962C8B-B14F-4D97-AF65-F5344CB8AC3E}">
        <p14:creationId xmlns:p14="http://schemas.microsoft.com/office/powerpoint/2010/main" val="1821229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BE1E13E-27EB-469B-9E61-3E625970EA1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主汇报结束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C45847-0C89-4DAE-9EB8-B1D310B9272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阶段结论与下一步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E0D633-716F-4BEE-A8EA-4A8833268BD3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本周实验记录；Topic 4研究问题；后续30次与增强实验尚未执行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36F44C-9B59-43C2-852C-A415ACDAC397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D5F820-E23A-4DEC-8B00-F7A1473D220E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1714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66DC5-E639-48C2-9458-90E31459F07A}"/>
              </a:ext>
            </a:extLst>
          </p:cNvPr>
          <p:cNvSpPr>
            <a:spLocks noGrp="1"/>
          </p:cNvSpPr>
          <p:nvPr/>
        </p:nvSpPr>
        <p:spPr>
          <a:xfrm>
            <a:off x="2333625" y="1695450"/>
            <a:ext cx="90963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10次驾驶基线，1,200张带标签图像，2个50轮模型，6组检测评估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82F52F-8E09-4962-B4BC-F0010B42D01F}"/>
              </a:ext>
            </a:extLst>
          </p:cNvPr>
          <p:cNvSpPr>
            <a:spLocks noGrp="1"/>
          </p:cNvSpPr>
          <p:nvPr/>
        </p:nvSpPr>
        <p:spPr>
          <a:xfrm>
            <a:off x="514350" y="2647950"/>
            <a:ext cx="11144250" cy="19050"/>
          </a:xfrm>
          <a:prstGeom prst="rect">
            <a:avLst/>
          </a:prstGeom>
          <a:solidFill>
            <a:srgbClr val="D9E2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DCABD4-75E2-4C99-B519-BE81111CC57D}"/>
              </a:ext>
            </a:extLst>
          </p:cNvPr>
          <p:cNvSpPr>
            <a:spLocks noGrp="1"/>
          </p:cNvSpPr>
          <p:nvPr/>
        </p:nvSpPr>
        <p:spPr>
          <a:xfrm>
            <a:off x="514350" y="2981325"/>
            <a:ext cx="1714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5EB5"/>
                </a:solidFill>
                <a:latin typeface="Microsoft YaHei"/>
                <a:ea typeface="Microsoft YaHei"/>
                <a:cs typeface="Microsoft YaHei"/>
              </a:rPr>
              <a:t>先验证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933E2C-1B12-4F96-984D-54CC9CC7F56C}"/>
              </a:ext>
            </a:extLst>
          </p:cNvPr>
          <p:cNvSpPr>
            <a:spLocks noGrp="1"/>
          </p:cNvSpPr>
          <p:nvPr/>
        </p:nvSpPr>
        <p:spPr>
          <a:xfrm>
            <a:off x="2333625" y="2981325"/>
            <a:ext cx="90963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3模型 × 5设置 × 2天气，共30次新驾驶测试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C52073-D468-4D48-8F5F-74895DA66685}"/>
              </a:ext>
            </a:extLst>
          </p:cNvPr>
          <p:cNvSpPr>
            <a:spLocks noGrp="1"/>
          </p:cNvSpPr>
          <p:nvPr/>
        </p:nvSpPr>
        <p:spPr>
          <a:xfrm>
            <a:off x="514350" y="3933825"/>
            <a:ext cx="11144250" cy="19050"/>
          </a:xfrm>
          <a:prstGeom prst="rect">
            <a:avLst/>
          </a:prstGeom>
          <a:solidFill>
            <a:srgbClr val="D9E2E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6FE765-5534-40D2-90DF-071F21FB7E94}"/>
              </a:ext>
            </a:extLst>
          </p:cNvPr>
          <p:cNvSpPr>
            <a:spLocks noGrp="1"/>
          </p:cNvSpPr>
          <p:nvPr/>
        </p:nvSpPr>
        <p:spPr>
          <a:xfrm>
            <a:off x="514350" y="4267200"/>
            <a:ext cx="1714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再研究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34B031-74A5-4431-8CC6-09C7730C8150}"/>
              </a:ext>
            </a:extLst>
          </p:cNvPr>
          <p:cNvSpPr>
            <a:spLocks noGrp="1"/>
          </p:cNvSpPr>
          <p:nvPr/>
        </p:nvSpPr>
        <p:spPr>
          <a:xfrm>
            <a:off x="2333625" y="4267200"/>
            <a:ext cx="90963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匹配预算的天气增强对照；确认控制模型范围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8A3474-FDBB-4E18-B79E-71392995D410}"/>
              </a:ext>
            </a:extLst>
          </p:cNvPr>
          <p:cNvSpPr>
            <a:spLocks noGrp="1"/>
          </p:cNvSpPr>
          <p:nvPr/>
        </p:nvSpPr>
        <p:spPr>
          <a:xfrm>
            <a:off x="514350" y="5572125"/>
            <a:ext cx="11144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当前结论：检测指标改善已测得；驾驶安全改善仍需新实验。</a:t>
            </a:r>
          </a:p>
        </p:txBody>
      </p:sp>
    </p:spTree>
    <p:extLst>
      <p:ext uri="{BB962C8B-B14F-4D97-AF65-F5344CB8AC3E}">
        <p14:creationId xmlns:p14="http://schemas.microsoft.com/office/powerpoint/2010/main" val="1633131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55FFCBC-31A8-4E14-A3AB-0B90ED30818B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附录A　驾驶明细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20BA38-F2D3-4AC6-91F8-D87F2551953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十次驾驶完整记录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995C9C-F747-4F82-B008-EB746FC747DC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all_10_runs.csv；时间为模拟秒；使用原始预训练模型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47DE76-5840-4ACA-8B6D-22529759AD1D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3D3BFCE-DF11-4C6D-BE5C-906865648617}"/>
              </a:ext>
            </a:extLst>
          </p:cNvPr>
          <p:cNvGraphicFramePr/>
          <p:nvPr/>
        </p:nvGraphicFramePr>
        <p:xfrm>
          <a:off x="514350" y="1657350"/>
          <a:ext cx="11144250" cy="3857623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69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天气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首次刹车 / s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完全停车 / s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 / s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22.90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无碰撞到达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22.00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无碰撞到达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S02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5.75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无碰撞到达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S02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5.70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23.90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无碰撞到达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S03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21.55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无碰撞到达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S03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20.70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无碰撞到达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S04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8.30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无碰撞到达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S04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未完全停住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8.95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碰撞终止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S05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5.20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未完全停住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19.45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无碰撞到达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69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S05</a:t>
                      </a:r>
                    </a:p>
                  </a:txBody>
                  <a:tcPr marL="57150" marR="57150" marT="19050" marB="19050"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5.40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6.35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21.75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无碰撞到达</a:t>
                      </a:r>
                    </a:p>
                  </a:txBody>
                  <a:tcPr marL="57150" marR="57150" marT="19050" marB="19050"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EB9E2F9-8585-44F4-8F4C-3C9E6F0585C7}"/>
              </a:ext>
            </a:extLst>
          </p:cNvPr>
          <p:cNvSpPr>
            <a:spLocks noGrp="1"/>
          </p:cNvSpPr>
          <p:nvPr/>
        </p:nvSpPr>
        <p:spPr>
          <a:xfrm>
            <a:off x="514350" y="5715000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5414"/>
                </a:solidFill>
                <a:latin typeface="Microsoft YaHei"/>
                <a:ea typeface="Microsoft YaHei"/>
                <a:cs typeface="Microsoft YaHei"/>
              </a:rPr>
              <a:t>配对结果：雨天首次刹车平均晚 0.33 秒（5组，范围0.15～0.55秒）</a:t>
            </a:r>
          </a:p>
        </p:txBody>
      </p:sp>
    </p:spTree>
    <p:extLst>
      <p:ext uri="{BB962C8B-B14F-4D97-AF65-F5344CB8AC3E}">
        <p14:creationId xmlns:p14="http://schemas.microsoft.com/office/powerpoint/2010/main" val="1324179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498908D-C3C0-4824-A017-A23BC04E479A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附录B　P、R与mAP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469C05-BBA5-47FE-9811-AACD68EE758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六组完整检测指标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017187-D2D8-486A-937F-6AB56C31B8F3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experiment.json；每种天气100张测试图；统一评估设置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1C46F4-1159-4154-97F1-4F3B15976812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357E284-4491-4C6F-BC56-C3BCF1C3A73F}"/>
              </a:ext>
            </a:extLst>
          </p:cNvPr>
          <p:cNvGraphicFramePr/>
          <p:nvPr/>
        </p:nvGraphicFramePr>
        <p:xfrm>
          <a:off x="514350" y="1714500"/>
          <a:ext cx="11144250" cy="2952747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182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测试天气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/ 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 / 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mAP50 / 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mAP50–95 / 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82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原始模型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82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原始模型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82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晴天微调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82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晴天微调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79.9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82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雨天微调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82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雨天微调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雨天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39.4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DF023ED-D364-4514-B523-AA8A1D03EC01}"/>
              </a:ext>
            </a:extLst>
          </p:cNvPr>
          <p:cNvSpPr>
            <a:spLocks noGrp="1"/>
          </p:cNvSpPr>
          <p:nvPr/>
        </p:nvSpPr>
        <p:spPr>
          <a:xfrm>
            <a:off x="514350" y="49720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雨天召回率：24.6% → 60.5%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57E7E0-60C8-482D-BE04-5C8836A1F738}"/>
              </a:ext>
            </a:extLst>
          </p:cNvPr>
          <p:cNvSpPr>
            <a:spLocks noGrp="1"/>
          </p:cNvSpPr>
          <p:nvPr/>
        </p:nvSpPr>
        <p:spPr>
          <a:xfrm>
            <a:off x="514350" y="5486400"/>
            <a:ext cx="7239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P：预测中有多少正确　　R：真实目标中找到多少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BB0097-5A68-475C-8F9C-EB4B00B48F25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评估conf=0.001；图片展示阈值0.35，两者用途不同。</a:t>
            </a:r>
          </a:p>
        </p:txBody>
      </p:sp>
    </p:spTree>
    <p:extLst>
      <p:ext uri="{BB962C8B-B14F-4D97-AF65-F5344CB8AC3E}">
        <p14:creationId xmlns:p14="http://schemas.microsoft.com/office/powerpoint/2010/main" val="1733760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4C8F659-02AA-4AD9-BF83-2D810BF15140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附录C　开源复用与实验归属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363FA8-AF8A-4F99-88FA-477380F8110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11252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C42"/>
                </a:solidFill>
                <a:latin typeface="Microsoft YaHei"/>
                <a:ea typeface="Microsoft YaHei"/>
                <a:cs typeface="Microsoft YaHei"/>
              </a:rPr>
              <a:t>来源、个人工作与可交付证据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BA350D-15D8-40B5-97BA-6C66187D469A}"/>
              </a:ext>
            </a:extLst>
          </p:cNvPr>
          <p:cNvSpPr>
            <a:spLocks noGrp="1"/>
          </p:cNvSpPr>
          <p:nvPr/>
        </p:nvSpPr>
        <p:spPr>
          <a:xfrm>
            <a:off x="514350" y="6362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SOURCE.md；实验脚本；数据卡；CSV；experiment.json；best.pt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9EC3D0-8CE5-4CB1-B122-ECB2932DC36D}"/>
              </a:ext>
            </a:extLst>
          </p:cNvPr>
          <p:cNvSpPr>
            <a:spLocks noGrp="1"/>
          </p:cNvSpPr>
          <p:nvPr/>
        </p:nvSpPr>
        <p:spPr>
          <a:xfrm>
            <a:off x="10810875" y="6362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D47C950-54D3-4170-AFE9-E26193892558}"/>
              </a:ext>
            </a:extLst>
          </p:cNvPr>
          <p:cNvGraphicFramePr/>
          <p:nvPr/>
        </p:nvGraphicFramePr>
        <p:xfrm>
          <a:off x="514350" y="1695450"/>
          <a:ext cx="11144250" cy="32861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来源或本周工作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>
                      <a:solidFill>
                        <a:srgbClr val="D9E2E9"/>
                      </a:solidFill>
                      <a:prstDash val="soli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基础能力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复用CARLA、YOLO架构和第三方权重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SOURCE.md、环境核验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实验系统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相机集成、横穿设置、规则控制与日志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run_baseline.py、驾驶CSV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数据流程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晴雨配对采集、实例标签、划分与核查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collect_weather_training.py、数据卡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训练评价</a:t>
                      </a:r>
                    </a:p>
                  </a:txBody>
                  <a:tcPr anchor="ctr">
                    <a:lnL w="9525">
                      <a:solidFill>
                        <a:srgbClr val="D9E2E9"/>
                      </a:solidFill>
                      <a:prstDash val="soli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两次微调、六组测试与失败分析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train_weather_models.py、指标JSON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2E9"/>
                      </a:solidFill>
                      <a:prstDash val="solid"/>
                    </a:lnR>
                    <a:lnT w="9525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2E9"/>
                      </a:solidFill>
                      <a:prstDash val="solid"/>
                    </a:lnB>
                    <a:solidFill>
                      <a:srgbClr val="F8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4363E44-83F4-4F47-995E-F74C38CD02DE}"/>
              </a:ext>
            </a:extLst>
          </p:cNvPr>
          <p:cNvSpPr>
            <a:spLocks noGrp="1"/>
          </p:cNvSpPr>
          <p:nvPr/>
        </p:nvSpPr>
        <p:spPr>
          <a:xfrm>
            <a:off x="514350" y="5276850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E83"/>
                </a:solidFill>
                <a:latin typeface="Microsoft YaHei"/>
                <a:ea typeface="Microsoft YaHei"/>
                <a:cs typeface="Microsoft YaHei"/>
              </a:rPr>
              <a:t>新增权重：晴天 best.pt（26086b54…）　雨天 best.pt（ba25096c…）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74742F-6BAD-479A-9BDB-0DCD6C9B0440}"/>
              </a:ext>
            </a:extLst>
          </p:cNvPr>
          <p:cNvSpPr>
            <a:spLocks noGrp="1"/>
          </p:cNvSpPr>
          <p:nvPr/>
        </p:nvSpPr>
        <p:spPr>
          <a:xfrm>
            <a:off x="514350" y="5800725"/>
            <a:ext cx="11144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B"/>
                </a:solidFill>
                <a:latin typeface="Microsoft YaHei"/>
                <a:ea typeface="Microsoft YaHei"/>
                <a:cs typeface="Microsoft YaHei"/>
              </a:rPr>
              <a:t>实现与材料整理使用AI辅助；模型来源、实验过程和结果记录均明确保留。</a:t>
            </a:r>
          </a:p>
        </p:txBody>
      </p:sp>
    </p:spTree>
    <p:extLst>
      <p:ext uri="{BB962C8B-B14F-4D97-AF65-F5344CB8AC3E}">
        <p14:creationId xmlns:p14="http://schemas.microsoft.com/office/powerpoint/2010/main" val="1927385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1807</Words>
  <Application>Microsoft Office PowerPoint</Application>
  <DocSecurity>0</DocSecurity>
  <PresentationFormat>宽屏</PresentationFormat>
  <Paragraphs>438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s1340775</cp:lastModifiedBy>
  <cp:revision>3</cp:revision>
  <dcterms:created xsi:type="dcterms:W3CDTF">2026-10-19T03:40:54Z</dcterms:created>
  <dcterms:modified xsi:type="dcterms:W3CDTF">2026-10-19T06:47:37Z</dcterms:modified>
</cp:coreProperties>
</file>